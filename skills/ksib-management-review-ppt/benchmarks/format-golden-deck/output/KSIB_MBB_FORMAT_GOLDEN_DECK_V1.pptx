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e4f184cd27e47c6" /><Relationship Type="http://schemas.openxmlformats.org/officeDocument/2006/relationships/extended-properties" Target="/docProps/app.xml" Id="R28ccf1557d69431d" /><Relationship Type="http://schemas.openxmlformats.org/officeDocument/2006/relationships/officeDocument" Target="/ppt/presentation.xml" Id="R2ab3f0bb650340e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4b5ceb0a0f42d9"/>
  </p:sldMasterIdLst>
  <p:notesMasterIdLst>
    <p:notesMasterId xmlns:r="http://schemas.openxmlformats.org/officeDocument/2006/relationships" r:id="R49254b84fe6a47b2"/>
  </p:notesMasterIdLst>
  <p:sldIdLst>
    <p:sldId xmlns:r="http://schemas.openxmlformats.org/officeDocument/2006/relationships" id="256" r:id="R815b70c1e2fc4d2e"/>
    <p:sldId xmlns:r="http://schemas.openxmlformats.org/officeDocument/2006/relationships" id="257" r:id="R58fc0ddd97be45b2"/>
    <p:sldId xmlns:r="http://schemas.openxmlformats.org/officeDocument/2006/relationships" id="258" r:id="R85633433b83c42cc"/>
    <p:sldId xmlns:r="http://schemas.openxmlformats.org/officeDocument/2006/relationships" id="259" r:id="Ra3a8b73a25d84729"/>
    <p:sldId xmlns:r="http://schemas.openxmlformats.org/officeDocument/2006/relationships" id="260" r:id="R74e08f46019f4bfd"/>
    <p:sldId xmlns:r="http://schemas.openxmlformats.org/officeDocument/2006/relationships" id="261" r:id="Rb9a6f73acc3f44b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f0b29849024570" /><Relationship Type="http://schemas.openxmlformats.org/officeDocument/2006/relationships/slideMaster" Target="/ppt/slideMasters/slideMaster1.xml" Id="Rc34b5ceb0a0f42d9" /><Relationship Type="http://schemas.openxmlformats.org/officeDocument/2006/relationships/notesMaster" Target="/ppt/notesMasters/notesMaster1.xml" Id="R49254b84fe6a47b2" /><Relationship Type="http://schemas.openxmlformats.org/officeDocument/2006/relationships/presProps" Target="/ppt/presProps.xml" Id="Rb9098bb215844109" /><Relationship Type="http://schemas.openxmlformats.org/officeDocument/2006/relationships/tableStyles" Target="/ppt/tableStyles.xml" Id="R337b67a02c0e4497" /><Relationship Type="http://schemas.openxmlformats.org/officeDocument/2006/relationships/slide" Target="/ppt/slides/slide1.xml" Id="R815b70c1e2fc4d2e" /><Relationship Type="http://schemas.openxmlformats.org/officeDocument/2006/relationships/slide" Target="/ppt/slides/slide2.xml" Id="R58fc0ddd97be45b2" /><Relationship Type="http://schemas.openxmlformats.org/officeDocument/2006/relationships/slide" Target="/ppt/slides/slide3.xml" Id="R85633433b83c42cc" /><Relationship Type="http://schemas.openxmlformats.org/officeDocument/2006/relationships/slide" Target="/ppt/slides/slide4.xml" Id="Ra3a8b73a25d84729" /><Relationship Type="http://schemas.openxmlformats.org/officeDocument/2006/relationships/slide" Target="/ppt/slides/slide5.xml" Id="R74e08f46019f4bfd" /><Relationship Type="http://schemas.openxmlformats.org/officeDocument/2006/relationships/slide" Target="/ppt/slides/slide6.xml" Id="Rb9a6f73acc3f44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375775292164c8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KSIB Management Review Orange">
      <a:dk1>
        <a:srgbClr val="1F2329"/>
      </a:dk1>
      <a:lt1>
        <a:srgbClr val="FFFFFF"/>
      </a:lt1>
      <a:dk2>
        <a:srgbClr val="646A73"/>
      </a:dk2>
      <a:lt2>
        <a:srgbClr val="FAFAFA"/>
      </a:lt2>
      <a:accent1>
        <a:srgbClr val="FF4906"/>
      </a:accent1>
      <a:accent2>
        <a:srgbClr val="D83D00"/>
      </a:accent2>
      <a:accent3>
        <a:srgbClr val="FFF7F3"/>
      </a:accent3>
      <a:accent4>
        <a:srgbClr val="FFDBCD"/>
      </a:accent4>
      <a:accent5>
        <a:srgbClr val="3B4048"/>
      </a:accent5>
      <a:accent6>
        <a:srgbClr val="E5E6EB"/>
      </a:accent6>
      <a:hlink>
        <a:srgbClr val="3370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KSIB Management Review Orang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e699e54c654186" /><Relationship Type="http://schemas.openxmlformats.org/officeDocument/2006/relationships/notesMaster" Target="/ppt/notesMasters/notesMaster1.xml" Id="R229dfc5e1e734ab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ed73a00eaf3481c" /><Relationship Type="http://schemas.openxmlformats.org/officeDocument/2006/relationships/notesMaster" Target="/ppt/notesMasters/notesMaster1.xml" Id="Rff0ab77f272b4e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50dd02d05da4d6e" /><Relationship Type="http://schemas.openxmlformats.org/officeDocument/2006/relationships/notesMaster" Target="/ppt/notesMasters/notesMaster1.xml" Id="R958d5d5220d843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5a4278aa0434155" /><Relationship Type="http://schemas.openxmlformats.org/officeDocument/2006/relationships/notesMaster" Target="/ppt/notesMasters/notesMaster1.xml" Id="R6e400d2d83a94c0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e656ec8b4314d3f" /><Relationship Type="http://schemas.openxmlformats.org/officeDocument/2006/relationships/notesMaster" Target="/ppt/notesMasters/notesMaster1.xml" Id="Rfa70984d8590402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9ac9dbf7bb843c7" /><Relationship Type="http://schemas.openxmlformats.org/officeDocument/2006/relationships/notesMaster" Target="/ppt/notesMasters/notesMaster1.xml" Id="Rd5e4cf499434457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7c99a301044e1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ff38320c76147fc" /><Relationship Type="http://schemas.openxmlformats.org/officeDocument/2006/relationships/slideLayout" Target="/ppt/slideLayouts/slideLayout1.xml" Id="R27ab22fbc06647e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ab22fbc06647e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KSIB Management Review Orange">
      <a:dk1>
        <a:srgbClr val="1F2329"/>
      </a:dk1>
      <a:lt1>
        <a:srgbClr val="FFFFFF"/>
      </a:lt1>
      <a:dk2>
        <a:srgbClr val="646A73"/>
      </a:dk2>
      <a:lt2>
        <a:srgbClr val="FAFAFA"/>
      </a:lt2>
      <a:accent1>
        <a:srgbClr val="FF4906"/>
      </a:accent1>
      <a:accent2>
        <a:srgbClr val="D83D00"/>
      </a:accent2>
      <a:accent3>
        <a:srgbClr val="FFF7F3"/>
      </a:accent3>
      <a:accent4>
        <a:srgbClr val="FFDBCD"/>
      </a:accent4>
      <a:accent5>
        <a:srgbClr val="3B4048"/>
      </a:accent5>
      <a:accent6>
        <a:srgbClr val="E5E6EB"/>
      </a:accent6>
      <a:hlink>
        <a:srgbClr val="3370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KSIB Management Review Orang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d5029ef0d14939" /><Relationship Type="http://schemas.openxmlformats.org/officeDocument/2006/relationships/notesSlide" Target="/ppt/notesSlides/notesSlide1.xml" Id="Rb32f919324b6416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c5286e6e224c10" /><Relationship Type="http://schemas.openxmlformats.org/officeDocument/2006/relationships/chart" Target="/ppt/slides/charts/chart1.xml" Id="R77839587e0d44bf5" /><Relationship Type="http://schemas.openxmlformats.org/officeDocument/2006/relationships/notesSlide" Target="/ppt/notesSlides/notesSlide2.xml" Id="R33315ebc3b7e4e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fe331abd1c41ed" /><Relationship Type="http://schemas.openxmlformats.org/officeDocument/2006/relationships/notesSlide" Target="/ppt/notesSlides/notesSlide3.xml" Id="R9da4d7e7eee643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093744a3a04698" /><Relationship Type="http://schemas.openxmlformats.org/officeDocument/2006/relationships/notesSlide" Target="/ppt/notesSlides/notesSlide4.xml" Id="R07d72098114f4c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67778c9788459b" /><Relationship Type="http://schemas.openxmlformats.org/officeDocument/2006/relationships/notesSlide" Target="/ppt/notesSlides/notesSlide5.xml" Id="R56a1786b7a824fd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552a96d8da4467" /><Relationship Type="http://schemas.openxmlformats.org/officeDocument/2006/relationships/notesSlide" Target="/ppt/notesSlides/notesSlide6.xml" Id="Rdf9ccb86056e4a49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类别指数</c:v>
          </c:tx>
          <c:spPr>
            <a:solidFill xmlns:a="http://schemas.openxmlformats.org/drawingml/2006/main">
              <a:srgbClr val="D9DCE1"/>
            </a:solidFill>
          </c:spPr>
          <c:dPt>
            <c:idx val="3"/>
            <c:invertIfNegative val="0"/>
            <c:spPr>
              <a:solidFill xmlns:a="http://schemas.openxmlformats.org/drawingml/2006/main">
                <a:srgbClr val="FF4906"/>
              </a:solidFill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646A73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646A73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646A73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00" b="1">
                      <a:solidFill>
                        <a:srgbClr val="FF4906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</c:strLit>
          </c:cat>
          <c:val>
            <c:numLit>
              <c:formatCode>0</c:formatCode>
              <c:ptCount val="4"/>
              <c:pt idx="0">
                <c:v>18</c:v>
              </c:pt>
              <c:pt idx="1">
                <c:v>32</c:v>
              </c:pt>
              <c:pt idx="2">
                <c:v>41</c:v>
              </c:pt>
              <c:pt idx="3">
                <c:v>57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646A7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tickLblPos val="nextTo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6A73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accent-line">
            <a:extLst xmlns:a="http://schemas.openxmlformats.org/drawingml/2006/main">
              <a:ext uri="{FF2B5EF4-FFF2-40B4-BE49-F238E27FC236}">
                <a16:creationId xmlns:a16="http://schemas.microsoft.com/office/drawing/2014/main" id="{9537616C-1C51-48FF-B65A-82806FE5CF1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960120"/>
            <a:ext cx="54864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9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wordmark">
            <a:extLst xmlns:a="http://schemas.openxmlformats.org/drawingml/2006/main">
              <a:ext uri="{FF2B5EF4-FFF2-40B4-BE49-F238E27FC236}">
                <a16:creationId xmlns:a16="http://schemas.microsoft.com/office/drawing/2014/main" id="{69B8670F-C815-413D-B321-3EACC013D3C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6112" y="859536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FF4906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latin typeface="PingFang SC"/>
                <a:ea typeface="PingFang SC"/>
                <a:cs typeface="PingFang SC"/>
              </a:rPr>
              <a:t>KSIB FORMAT ENGINEERING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AF90C0D-BA30-41CA-B51A-0BC6ECC4640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6112" y="1828800"/>
            <a:ext cx="9692640" cy="1051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4400" b="1">
                <a:latin typeface="PingFang SC"/>
                <a:ea typeface="PingFang SC"/>
                <a:cs typeface="PingFang SC"/>
              </a:rPr>
              <a:t>KSIB / MBB FORMAT</a:t>
            </a:r>
          </a:p>
          <a:p xmlns:a="http://schemas.openxmlformats.org/drawingml/2006/main">
            <a:pPr algn="l">
              <a:defRPr sz="4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4400" b="1">
                <a:latin typeface="PingFang SC"/>
                <a:ea typeface="PingFang SC"/>
                <a:cs typeface="PingFang SC"/>
              </a:rPr>
              <a:t>GOLDEN DECK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0F03CDF-1779-4354-A331-C2C795CC700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6112" y="3154680"/>
            <a:ext cx="96012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2400" b="0">
                <a:latin typeface="PingFang SC"/>
                <a:ea typeface="PingFang SC"/>
                <a:cs typeface="PingFang SC"/>
              </a:rPr>
              <a:t>咨询型PowerPoint格式与原生可编辑性基准</a:t>
            </a:r>
          </a:p>
        </p:txBody>
      </p:sp>
      <p:sp>
        <p:nvSpPr>
          <p:cNvPr id="5" name="cover-statement">
            <a:extLst xmlns:a="http://schemas.openxmlformats.org/drawingml/2006/main">
              <a:ext uri="{FF2B5EF4-FFF2-40B4-BE49-F238E27FC236}">
                <a16:creationId xmlns:a16="http://schemas.microsoft.com/office/drawing/2014/main" id="{F4947715-12E9-4BD0-80C5-5BDB5635AC1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6112" y="3886200"/>
            <a:ext cx="9601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600" b="0">
                <a:latin typeface="PingFang SC"/>
                <a:ea typeface="PingFang SC"/>
                <a:cs typeface="PingFang SC"/>
              </a:rPr>
              <a:t>固定6页、固定对象、固定样式；仅评估格式与编辑性，不评估内容生成</a:t>
            </a:r>
          </a:p>
        </p:txBody>
      </p:sp>
      <p:sp>
        <p:nvSpPr>
          <p:cNvPr id="6" name="cover-meta">
            <a:extLst xmlns:a="http://schemas.openxmlformats.org/drawingml/2006/main">
              <a:ext uri="{FF2B5EF4-FFF2-40B4-BE49-F238E27FC236}">
                <a16:creationId xmlns:a16="http://schemas.microsoft.com/office/drawing/2014/main" id="{CAC90235-CA46-45F2-A09F-0E30BD14177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6112" y="5989320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400" b="0">
                <a:latin typeface="PingFang SC"/>
                <a:ea typeface="PingFang SC"/>
                <a:cs typeface="PingFang SC"/>
              </a:rPr>
              <a:t>Benchmark v1.0｜2026-07-30</a:t>
            </a:r>
          </a:p>
        </p:txBody>
      </p:sp>
    </p:spTree>
    <p:extLst>
      <p:ext uri="{BB962C8B-B14F-4D97-AF65-F5344CB8AC3E}">
        <p14:creationId xmlns:p14="http://schemas.microsoft.com/office/powerpoint/2010/main" val="18207807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header-accent">
            <a:extLst xmlns:a="http://schemas.openxmlformats.org/drawingml/2006/main">
              <a:ext uri="{FF2B5EF4-FFF2-40B4-BE49-F238E27FC236}">
                <a16:creationId xmlns:a16="http://schemas.microsoft.com/office/drawing/2014/main" id="{CEFC65CB-E6AE-49FC-85EF-D05A309F84E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137160"/>
            <a:ext cx="27432" cy="182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9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eader-text">
            <a:extLst xmlns:a="http://schemas.openxmlformats.org/drawingml/2006/main">
              <a:ext uri="{FF2B5EF4-FFF2-40B4-BE49-F238E27FC236}">
                <a16:creationId xmlns:a16="http://schemas.microsoft.com/office/drawing/2014/main" id="{2DB5B126-E55E-495B-88BA-4203B95EBF9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41248" y="137160"/>
            <a:ext cx="10616184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latin typeface="PingFang SC"/>
                <a:ea typeface="PingFang SC"/>
                <a:cs typeface="PingFang SC"/>
              </a:rPr>
              <a:t>I-1｜原生图表</a:t>
            </a:r>
          </a:p>
        </p:txBody>
      </p:sp>
      <p:sp>
        <p:nvSpPr>
          <p:cNvPr id="3" name="action-title">
            <a:extLst xmlns:a="http://schemas.openxmlformats.org/drawingml/2006/main">
              <a:ext uri="{FF2B5EF4-FFF2-40B4-BE49-F238E27FC236}">
                <a16:creationId xmlns:a16="http://schemas.microsoft.com/office/drawing/2014/main" id="{B0D64A77-C849-4A4E-B9F2-76248274BC5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502920"/>
            <a:ext cx="10728655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2200" b="1">
                <a:latin typeface="PingFang SC"/>
                <a:ea typeface="PingFang SC"/>
                <a:cs typeface="PingFang SC"/>
              </a:rPr>
              <a:t>类别D达到57，形成唯一视觉焦点；其余三项保持中性呈现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725858F-3EC7-453D-8982-793758AC7C4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905256"/>
            <a:ext cx="10728655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400" b="0">
                <a:latin typeface="PingFang SC"/>
                <a:ea typeface="PingFang SC"/>
                <a:cs typeface="PingFang SC"/>
              </a:rPr>
              <a:t>基准测试虚构数据｜单系列、4个类别、单位：指数</a:t>
            </a:r>
          </a:p>
        </p:txBody>
      </p:sp>
      <p:sp>
        <p:nvSpPr>
          <p:cNvPr id="5" name="footer-divider">
            <a:extLst xmlns:a="http://schemas.openxmlformats.org/drawingml/2006/main">
              <a:ext uri="{FF2B5EF4-FFF2-40B4-BE49-F238E27FC236}">
                <a16:creationId xmlns:a16="http://schemas.microsoft.com/office/drawing/2014/main" id="{C82070A9-32A6-45E3-B10D-42A548BECF2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6355080"/>
            <a:ext cx="107286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5E6EB"/>
            </a:solidFill>
            <a:prstDash val="solid"/>
          </a:ln>
        </p:spPr>
      </p:sp>
      <p:sp>
        <p:nvSpPr>
          <p:cNvPr id="6" name="source-footnote">
            <a:extLst xmlns:a="http://schemas.openxmlformats.org/drawingml/2006/main">
              <a:ext uri="{FF2B5EF4-FFF2-40B4-BE49-F238E27FC236}">
                <a16:creationId xmlns:a16="http://schemas.microsoft.com/office/drawing/2014/main" id="{DD128641-050B-4BB7-ACB7-0B6C898E042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6446520"/>
            <a:ext cx="98755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latin typeface="PingFang SC"/>
                <a:ea typeface="PingFang SC"/>
                <a:cs typeface="PingFang SC"/>
              </a:rPr>
              <a:t>数据来源：KSIB Golden Deck 基准测试虚构数据；仅用于格式与编辑性测试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75A5C0E-2100-4741-A977-ED6C3307547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155680" y="649224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latin typeface="PingFang SC"/>
                <a:ea typeface="PingFang SC"/>
                <a:cs typeface="PingFang SC"/>
              </a:rPr>
              <a:t>2</a:t>
            </a:r>
          </a:p>
        </p:txBody>
      </p:sp>
      <p:graphicFrame>
        <p:nvGraphicFramePr>
          <p:cNvPr id="21" name="chart-main"/>
          <p:cNvGraphicFramePr/>
          <p:nvPr/>
        </p:nvGraphicFramePr>
        <p:xfrm>
          <a:off xmlns:a="http://schemas.openxmlformats.org/drawingml/2006/main" x="731520" y="1517904"/>
          <a:ext xmlns:a="http://schemas.openxmlformats.org/drawingml/2006/main" cx="7863840" cy="4626864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7839587e0d44bf5"/>
          </a:graphicData>
        </a:graphic>
      </p:graphicFrame>
      <p:sp>
        <p:nvSpPr>
          <p:cNvPr id="9" name="metric-1">
            <a:extLst xmlns:a="http://schemas.openxmlformats.org/drawingml/2006/main">
              <a:ext uri="{FF2B5EF4-FFF2-40B4-BE49-F238E27FC236}">
                <a16:creationId xmlns:a16="http://schemas.microsoft.com/office/drawing/2014/main" id="{C790C488-FAC0-42E4-9E74-0098C7FCC47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15400" y="1600200"/>
            <a:ext cx="2542032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FF4906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latin typeface="PingFang SC"/>
                <a:ea typeface="PingFang SC"/>
                <a:cs typeface="PingFang SC"/>
              </a:rPr>
              <a:t>57</a:t>
            </a:r>
          </a:p>
        </p:txBody>
      </p:sp>
      <p:sp>
        <p:nvSpPr>
          <p:cNvPr id="10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E160B9B3-DE8C-499F-8D17-8E50622B1BB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15400" y="2084832"/>
            <a:ext cx="2542032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400" b="0">
                <a:latin typeface="PingFang SC"/>
                <a:ea typeface="PingFang SC"/>
                <a:cs typeface="PingFang SC"/>
              </a:rPr>
              <a:t>最高值｜类别D</a:t>
            </a:r>
          </a:p>
        </p:txBody>
      </p:sp>
      <p:sp>
        <p:nvSpPr>
          <p:cNvPr id="11" name="metric-2">
            <a:extLst xmlns:a="http://schemas.openxmlformats.org/drawingml/2006/main">
              <a:ext uri="{FF2B5EF4-FFF2-40B4-BE49-F238E27FC236}">
                <a16:creationId xmlns:a16="http://schemas.microsoft.com/office/drawing/2014/main" id="{87C2CCBF-4E69-46C3-9531-4FD4651D60B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15400" y="2788920"/>
            <a:ext cx="2542032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latin typeface="PingFang SC"/>
                <a:ea typeface="PingFang SC"/>
                <a:cs typeface="PingFang SC"/>
              </a:rPr>
              <a:t>+39</a:t>
            </a:r>
          </a:p>
        </p:txBody>
      </p:sp>
      <p:sp>
        <p:nvSpPr>
          <p:cNvPr id="12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6C9243BA-D7A9-493D-933A-084E46D0C79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15400" y="3273552"/>
            <a:ext cx="2542032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400" b="0">
                <a:latin typeface="PingFang SC"/>
                <a:ea typeface="PingFang SC"/>
                <a:cs typeface="PingFang SC"/>
              </a:rPr>
              <a:t>较类别A的差值</a:t>
            </a:r>
          </a:p>
        </p:txBody>
      </p:sp>
      <p:sp>
        <p:nvSpPr>
          <p:cNvPr id="13" name="chart-reading-note">
            <a:extLst xmlns:a="http://schemas.openxmlformats.org/drawingml/2006/main">
              <a:ext uri="{FF2B5EF4-FFF2-40B4-BE49-F238E27FC236}">
                <a16:creationId xmlns:a16="http://schemas.microsoft.com/office/drawing/2014/main" id="{C61CC0EA-FD6B-42B8-A8A0-5C9581C387E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15400" y="4160520"/>
            <a:ext cx="2542032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0">
                <a:latin typeface="PingFang SC"/>
                <a:ea typeface="PingFang SC"/>
                <a:cs typeface="PingFang SC"/>
              </a:rPr>
              <a:t>强调色只服务于唯一主证据；其余类别使用中性色，避免制造多个视觉中心。</a:t>
            </a:r>
          </a:p>
        </p:txBody>
      </p:sp>
    </p:spTree>
    <p:extLst>
      <p:ext uri="{BB962C8B-B14F-4D97-AF65-F5344CB8AC3E}">
        <p14:creationId xmlns:p14="http://schemas.microsoft.com/office/powerpoint/2010/main" val="12553414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header-accent">
            <a:extLst xmlns:a="http://schemas.openxmlformats.org/drawingml/2006/main">
              <a:ext uri="{FF2B5EF4-FFF2-40B4-BE49-F238E27FC236}">
                <a16:creationId xmlns:a16="http://schemas.microsoft.com/office/drawing/2014/main" id="{2FD617DE-15D9-4997-A913-2CEBDD507FA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137160"/>
            <a:ext cx="27432" cy="182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9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eader-text">
            <a:extLst xmlns:a="http://schemas.openxmlformats.org/drawingml/2006/main">
              <a:ext uri="{FF2B5EF4-FFF2-40B4-BE49-F238E27FC236}">
                <a16:creationId xmlns:a16="http://schemas.microsoft.com/office/drawing/2014/main" id="{DC4F4948-A0D6-41D8-BC29-CB7A481D47C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41248" y="137160"/>
            <a:ext cx="10616184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latin typeface="PingFang SC"/>
                <a:ea typeface="PingFang SC"/>
                <a:cs typeface="PingFang SC"/>
              </a:rPr>
              <a:t>I-2｜原生表格</a:t>
            </a:r>
          </a:p>
        </p:txBody>
      </p:sp>
      <p:sp>
        <p:nvSpPr>
          <p:cNvPr id="3" name="action-title">
            <a:extLst xmlns:a="http://schemas.openxmlformats.org/drawingml/2006/main">
              <a:ext uri="{FF2B5EF4-FFF2-40B4-BE49-F238E27FC236}">
                <a16:creationId xmlns:a16="http://schemas.microsoft.com/office/drawing/2014/main" id="{2E2588F7-8B84-4FC9-B551-A9B849EB79A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502920"/>
            <a:ext cx="10728655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2200" b="1">
                <a:latin typeface="PingFang SC"/>
                <a:ea typeface="PingFang SC"/>
                <a:cs typeface="PingFang SC"/>
              </a:rPr>
              <a:t>原生表格应在高信息密度下保留单元格级格式控制</a:t>
            </a:r>
          </a:p>
        </p:txBody>
      </p:sp>
      <p:sp>
        <p:nvSpPr>
          <p:cNvPr id="4" name="footer-divider">
            <a:extLst xmlns:a="http://schemas.openxmlformats.org/drawingml/2006/main">
              <a:ext uri="{FF2B5EF4-FFF2-40B4-BE49-F238E27FC236}">
                <a16:creationId xmlns:a16="http://schemas.microsoft.com/office/drawing/2014/main" id="{6B03C171-C1C2-4168-A2E4-7244E29C445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6355080"/>
            <a:ext cx="107286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5E6EB"/>
            </a:solidFill>
            <a:prstDash val="solid"/>
          </a:ln>
        </p:spPr>
      </p:sp>
      <p:sp>
        <p:nvSpPr>
          <p:cNvPr id="5" name="source-footnote">
            <a:extLst xmlns:a="http://schemas.openxmlformats.org/drawingml/2006/main">
              <a:ext uri="{FF2B5EF4-FFF2-40B4-BE49-F238E27FC236}">
                <a16:creationId xmlns:a16="http://schemas.microsoft.com/office/drawing/2014/main" id="{C52227B7-0489-4DC0-8BDA-F1F7D72DB9F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6446520"/>
            <a:ext cx="98755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latin typeface="PingFang SC"/>
                <a:ea typeface="PingFang SC"/>
                <a:cs typeface="PingFang SC"/>
              </a:rPr>
              <a:t>数据来源：KSIB Golden Deck 基准测试虚构数据；仅用于格式与编辑性测试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1D92FC6-ED50-440D-B23C-D1D865E457E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155680" y="649224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latin typeface="PingFang SC"/>
                <a:ea typeface="PingFang SC"/>
                <a:cs typeface="PingFang SC"/>
              </a:rPr>
              <a:t>3</a:t>
            </a:r>
          </a:p>
        </p:txBody>
      </p:sp>
      <p:graphicFrame>
        <p:nvGraphicFramePr>
          <p:cNvPr id="17" name="table-main"/>
          <p:cNvGraphicFramePr/>
          <p:nvPr/>
        </p:nvGraphicFramePr>
        <p:xfrm>
          <a:off xmlns:a="http://schemas.openxmlformats.org/drawingml/2006/main" x="731520" y="1417320"/>
          <a:ext xmlns:a="http://schemas.openxmlformats.org/drawingml/2006/main" cx="7818120" cy="443484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80160"/>
                <a:gridCol w="1051560"/>
                <a:gridCol w="1051560"/>
                <a:gridCol w="1051560"/>
                <a:gridCol w="3383280"/>
              </a:tblGrid>
              <a:tr h="7391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模块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基期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当期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变化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说明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100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112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+12%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稳定上升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B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100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104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+4%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小幅增长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100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97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-3%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轻微回落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100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126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+26%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增长最快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合计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400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439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+9.8%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基准汇总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-total-rule">
            <a:extLst xmlns:a="http://schemas.openxmlformats.org/drawingml/2006/main">
              <a:ext uri="{FF2B5EF4-FFF2-40B4-BE49-F238E27FC236}">
                <a16:creationId xmlns:a16="http://schemas.microsoft.com/office/drawing/2014/main" id="{4CB4F3D9-FF14-48C6-BEAC-8B37E9043F9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5113020"/>
            <a:ext cx="7818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FF4906"/>
            </a:solidFill>
            <a:prstDash val="solid"/>
          </a:ln>
        </p:spPr>
      </p:sp>
      <p:sp>
        <p:nvSpPr>
          <p:cNvPr id="9" name="insight-panel-accent">
            <a:extLst xmlns:a="http://schemas.openxmlformats.org/drawingml/2006/main">
              <a:ext uri="{FF2B5EF4-FFF2-40B4-BE49-F238E27FC236}">
                <a16:creationId xmlns:a16="http://schemas.microsoft.com/office/drawing/2014/main" id="{77BE4642-FDDB-4B7F-8A4C-DCEC7057D87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869680" y="1417320"/>
            <a:ext cx="36576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9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insight-panel">
            <a:extLst xmlns:a="http://schemas.openxmlformats.org/drawingml/2006/main">
              <a:ext uri="{FF2B5EF4-FFF2-40B4-BE49-F238E27FC236}">
                <a16:creationId xmlns:a16="http://schemas.microsoft.com/office/drawing/2014/main" id="{DE1F2060-87F0-464B-967C-530BC4734D2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089136" y="1417320"/>
            <a:ext cx="2368296" cy="310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格式验证重点</a:t>
            </a:r>
          </a:p>
          <a:p xmlns:a="http://schemas.openxmlformats.org/drawingml/2006/main">
            <a:pPr algn="l"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改单元格填充</a:t>
            </a:r>
            <a:r>
              <a:rPr sz="1400" b="0">
                <a:latin typeface="PingFang SC"/>
                <a:ea typeface="PingFang SC"/>
                <a:cs typeface="PingFang SC"/>
              </a:rPr>
              <a:t>｜验证局部样式</a:t>
            </a:r>
          </a:p>
          <a:p xmlns:a="http://schemas.openxmlformats.org/drawingml/2006/main">
            <a:pPr algn="l"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改字体颜色</a:t>
            </a:r>
            <a:r>
              <a:rPr sz="1400" b="0">
                <a:latin typeface="PingFang SC"/>
                <a:ea typeface="PingFang SC"/>
                <a:cs typeface="PingFang SC"/>
              </a:rPr>
              <a:t>｜验证文字控制</a:t>
            </a:r>
          </a:p>
          <a:p xmlns:a="http://schemas.openxmlformats.org/drawingml/2006/main">
            <a:pPr algn="l"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取消加粗</a:t>
            </a:r>
            <a:r>
              <a:rPr sz="1400" b="0">
                <a:latin typeface="PingFang SC"/>
                <a:ea typeface="PingFang SC"/>
                <a:cs typeface="PingFang SC"/>
              </a:rPr>
              <a:t>｜验证按钮语义</a:t>
            </a:r>
          </a:p>
          <a:p xmlns:a="http://schemas.openxmlformats.org/drawingml/2006/main">
            <a:pPr algn="l"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复制粘贴</a:t>
            </a:r>
            <a:r>
              <a:rPr sz="1400" b="0">
                <a:latin typeface="PingFang SC"/>
                <a:ea typeface="PingFang SC"/>
                <a:cs typeface="PingFang SC"/>
              </a:rPr>
              <a:t>｜仍为原生表格</a:t>
            </a:r>
          </a:p>
        </p:txBody>
      </p:sp>
    </p:spTree>
    <p:extLst>
      <p:ext uri="{BB962C8B-B14F-4D97-AF65-F5344CB8AC3E}">
        <p14:creationId xmlns:p14="http://schemas.microsoft.com/office/powerpoint/2010/main" val="8832200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eader-accent">
            <a:extLst xmlns:a="http://schemas.openxmlformats.org/drawingml/2006/main">
              <a:ext uri="{FF2B5EF4-FFF2-40B4-BE49-F238E27FC236}">
                <a16:creationId xmlns:a16="http://schemas.microsoft.com/office/drawing/2014/main" id="{57F9809A-C3D8-477F-85C8-D4E1712CB77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137160"/>
            <a:ext cx="27432" cy="182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9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eader-text">
            <a:extLst xmlns:a="http://schemas.openxmlformats.org/drawingml/2006/main">
              <a:ext uri="{FF2B5EF4-FFF2-40B4-BE49-F238E27FC236}">
                <a16:creationId xmlns:a16="http://schemas.microsoft.com/office/drawing/2014/main" id="{96F0C71A-A7BE-464C-8078-1A971D46C90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41248" y="137160"/>
            <a:ext cx="10616184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latin typeface="PingFang SC"/>
                <a:ea typeface="PingFang SC"/>
                <a:cs typeface="PingFang SC"/>
              </a:rPr>
              <a:t>I-3｜左右比较</a:t>
            </a:r>
          </a:p>
        </p:txBody>
      </p:sp>
      <p:sp>
        <p:nvSpPr>
          <p:cNvPr id="3" name="action-title">
            <a:extLst xmlns:a="http://schemas.openxmlformats.org/drawingml/2006/main">
              <a:ext uri="{FF2B5EF4-FFF2-40B4-BE49-F238E27FC236}">
                <a16:creationId xmlns:a16="http://schemas.microsoft.com/office/drawing/2014/main" id="{019A34C7-AE77-40F7-9BBE-3EE69A69D18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502920"/>
            <a:ext cx="10728655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2200" b="1">
                <a:latin typeface="PingFang SC"/>
                <a:ea typeface="PingFang SC"/>
                <a:cs typeface="PingFang SC"/>
              </a:rPr>
              <a:t>左右比较依靠统一基线、等宽列和局部强调建立清晰取舍</a:t>
            </a:r>
          </a:p>
        </p:txBody>
      </p:sp>
      <p:sp>
        <p:nvSpPr>
          <p:cNvPr id="4" name="footer-divider">
            <a:extLst xmlns:a="http://schemas.openxmlformats.org/drawingml/2006/main">
              <a:ext uri="{FF2B5EF4-FFF2-40B4-BE49-F238E27FC236}">
                <a16:creationId xmlns:a16="http://schemas.microsoft.com/office/drawing/2014/main" id="{89767F88-E960-4D3D-861A-890F1530431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6355080"/>
            <a:ext cx="107286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5E6EB"/>
            </a:solidFill>
            <a:prstDash val="solid"/>
          </a:ln>
        </p:spPr>
      </p:sp>
      <p:sp>
        <p:nvSpPr>
          <p:cNvPr id="5" name="source-footnote">
            <a:extLst xmlns:a="http://schemas.openxmlformats.org/drawingml/2006/main">
              <a:ext uri="{FF2B5EF4-FFF2-40B4-BE49-F238E27FC236}">
                <a16:creationId xmlns:a16="http://schemas.microsoft.com/office/drawing/2014/main" id="{FCDD2CC6-4120-4984-A805-650549E05D7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6446520"/>
            <a:ext cx="98755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latin typeface="PingFang SC"/>
                <a:ea typeface="PingFang SC"/>
                <a:cs typeface="PingFang SC"/>
              </a:rPr>
              <a:t>数据来源：KSIB Golden Deck 基准测试虚构内容；仅用于格式与编辑性测试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BC0FE6-158C-4745-BA00-DCEB7582BBD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155680" y="649224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7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09DDA7DD-C283-4474-9D74-B7E95D164E4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094476" y="1463040"/>
            <a:ext cx="9144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6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olumn-left">
            <a:extLst xmlns:a="http://schemas.openxmlformats.org/drawingml/2006/main">
              <a:ext uri="{FF2B5EF4-FFF2-40B4-BE49-F238E27FC236}">
                <a16:creationId xmlns:a16="http://schemas.microsoft.com/office/drawing/2014/main" id="{35225C95-C2CC-4E3D-8B1F-9528126CC5E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1463040"/>
            <a:ext cx="5202936" cy="448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164592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方案A｜稳态优化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适用条件｜</a:t>
            </a:r>
            <a:r>
              <a:rPr sz="1400" b="0">
                <a:latin typeface="PingFang SC"/>
                <a:ea typeface="PingFang SC"/>
                <a:cs typeface="PingFang SC"/>
              </a:rPr>
              <a:t>已有流程可复用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核心动作｜</a:t>
            </a:r>
            <a:r>
              <a:rPr sz="1400" b="0">
                <a:latin typeface="PingFang SC"/>
                <a:ea typeface="PingFang SC"/>
                <a:cs typeface="PingFang SC"/>
              </a:rPr>
              <a:t>缩短交付链路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资源需求｜</a:t>
            </a:r>
            <a:r>
              <a:rPr sz="1400" b="1">
                <a:latin typeface="PingFang SC"/>
                <a:ea typeface="PingFang SC"/>
                <a:cs typeface="PingFang SC"/>
              </a:rPr>
              <a:t>2</a:t>
            </a:r>
            <a:r>
              <a:rPr sz="1400" b="0">
                <a:latin typeface="PingFang SC"/>
                <a:ea typeface="PingFang SC"/>
                <a:cs typeface="PingFang SC"/>
              </a:rPr>
              <a:t>个角色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主要风险｜</a:t>
            </a:r>
            <a:r>
              <a:rPr sz="1400" b="0">
                <a:latin typeface="PingFang SC"/>
                <a:ea typeface="PingFang SC"/>
                <a:cs typeface="PingFang SC"/>
              </a:rPr>
              <a:t>局部改善有限</a:t>
            </a:r>
          </a:p>
        </p:txBody>
      </p:sp>
      <p:sp>
        <p:nvSpPr>
          <p:cNvPr id="9" name="column-right">
            <a:extLst xmlns:a="http://schemas.openxmlformats.org/drawingml/2006/main">
              <a:ext uri="{FF2B5EF4-FFF2-40B4-BE49-F238E27FC236}">
                <a16:creationId xmlns:a16="http://schemas.microsoft.com/office/drawing/2014/main" id="{DB51EBBF-435E-4C0C-9E30-FD85563C8DB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254496" y="1463040"/>
            <a:ext cx="5202936" cy="448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64592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方案B｜结构升级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适用条件｜</a:t>
            </a:r>
            <a:r>
              <a:rPr sz="1400" b="0">
                <a:latin typeface="PingFang SC"/>
                <a:ea typeface="PingFang SC"/>
                <a:cs typeface="PingFang SC"/>
              </a:rPr>
              <a:t>需重构关键接口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核心动作｜</a:t>
            </a:r>
            <a:r>
              <a:rPr sz="1400" b="0">
                <a:latin typeface="PingFang SC"/>
                <a:ea typeface="PingFang SC"/>
                <a:cs typeface="PingFang SC"/>
              </a:rPr>
              <a:t>建立统一模板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资源需求｜</a:t>
            </a:r>
            <a:r>
              <a:rPr sz="1400" b="1">
                <a:latin typeface="PingFang SC"/>
                <a:ea typeface="PingFang SC"/>
                <a:cs typeface="PingFang SC"/>
              </a:rPr>
              <a:t>3</a:t>
            </a:r>
            <a:r>
              <a:rPr sz="1400" b="0">
                <a:latin typeface="PingFang SC"/>
                <a:ea typeface="PingFang SC"/>
                <a:cs typeface="PingFang SC"/>
              </a:rPr>
              <a:t>个角色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主要风险｜</a:t>
            </a:r>
            <a:r>
              <a:rPr sz="1400" b="0">
                <a:latin typeface="PingFang SC"/>
                <a:ea typeface="PingFang SC"/>
                <a:cs typeface="PingFang SC"/>
              </a:rPr>
              <a:t>迁移期成本较高</a:t>
            </a:r>
          </a:p>
        </p:txBody>
      </p:sp>
    </p:spTree>
    <p:extLst>
      <p:ext uri="{BB962C8B-B14F-4D97-AF65-F5344CB8AC3E}">
        <p14:creationId xmlns:p14="http://schemas.microsoft.com/office/powerpoint/2010/main" val="8387293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header-accent">
            <a:extLst xmlns:a="http://schemas.openxmlformats.org/drawingml/2006/main">
              <a:ext uri="{FF2B5EF4-FFF2-40B4-BE49-F238E27FC236}">
                <a16:creationId xmlns:a16="http://schemas.microsoft.com/office/drawing/2014/main" id="{1C818079-F98B-4029-AB83-C7FA88E4137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137160"/>
            <a:ext cx="27432" cy="182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9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eader-text">
            <a:extLst xmlns:a="http://schemas.openxmlformats.org/drawingml/2006/main">
              <a:ext uri="{FF2B5EF4-FFF2-40B4-BE49-F238E27FC236}">
                <a16:creationId xmlns:a16="http://schemas.microsoft.com/office/drawing/2014/main" id="{312EE1AD-E78B-4196-B5B6-D994DAE9ECE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41248" y="137160"/>
            <a:ext cx="10616184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latin typeface="PingFang SC"/>
                <a:ea typeface="PingFang SC"/>
                <a:cs typeface="PingFang SC"/>
              </a:rPr>
              <a:t>I-4｜流程与连接器</a:t>
            </a:r>
          </a:p>
        </p:txBody>
      </p:sp>
      <p:sp>
        <p:nvSpPr>
          <p:cNvPr id="3" name="action-title">
            <a:extLst xmlns:a="http://schemas.openxmlformats.org/drawingml/2006/main">
              <a:ext uri="{FF2B5EF4-FFF2-40B4-BE49-F238E27FC236}">
                <a16:creationId xmlns:a16="http://schemas.microsoft.com/office/drawing/2014/main" id="{658C28BF-78AF-4649-A110-3B40BE263B2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502920"/>
            <a:ext cx="10728655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2200" b="1">
                <a:latin typeface="PingFang SC"/>
                <a:ea typeface="PingFang SC"/>
                <a:cs typeface="PingFang SC"/>
              </a:rPr>
              <a:t>四个原生节点串联端到端流程，复核反馈闭环返回输入端</a:t>
            </a:r>
          </a:p>
        </p:txBody>
      </p:sp>
      <p:sp>
        <p:nvSpPr>
          <p:cNvPr id="4" name="footer-divider">
            <a:extLst xmlns:a="http://schemas.openxmlformats.org/drawingml/2006/main">
              <a:ext uri="{FF2B5EF4-FFF2-40B4-BE49-F238E27FC236}">
                <a16:creationId xmlns:a16="http://schemas.microsoft.com/office/drawing/2014/main" id="{1BF7C8F3-AABA-4D37-A352-A70AC91209D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6355080"/>
            <a:ext cx="107286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5E6EB"/>
            </a:solidFill>
            <a:prstDash val="solid"/>
          </a:ln>
        </p:spPr>
      </p:sp>
      <p:sp>
        <p:nvSpPr>
          <p:cNvPr id="5" name="source-footnote">
            <a:extLst xmlns:a="http://schemas.openxmlformats.org/drawingml/2006/main">
              <a:ext uri="{FF2B5EF4-FFF2-40B4-BE49-F238E27FC236}">
                <a16:creationId xmlns:a16="http://schemas.microsoft.com/office/drawing/2014/main" id="{F8DB320A-543B-4071-81FF-FBB9F28444D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6446520"/>
            <a:ext cx="98755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latin typeface="PingFang SC"/>
                <a:ea typeface="PingFang SC"/>
                <a:cs typeface="PingFang SC"/>
              </a:rPr>
              <a:t>数据来源：KSIB Golden Deck 格式基准规范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BD07F49-E867-47E4-BC7C-093380B4A2D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155680" y="649224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7" name="process-node-1">
            <a:extLst xmlns:a="http://schemas.openxmlformats.org/drawingml/2006/main">
              <a:ext uri="{FF2B5EF4-FFF2-40B4-BE49-F238E27FC236}">
                <a16:creationId xmlns:a16="http://schemas.microsoft.com/office/drawing/2014/main" id="{9136B2D2-45C7-46B9-817E-11B20777501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1965960"/>
            <a:ext cx="2276856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6EB"/>
            </a:solidFill>
            <a:prstDash val="solid"/>
          </a:ln>
        </p:spPr>
        <p:txBody>
          <a:bodyPr xmlns:a="http://schemas.openxmlformats.org/drawingml/2006/main" wrap="square" lIns="137160" tIns="164592" rIns="137160" bIns="164592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接收输入</a:t>
            </a:r>
          </a:p>
          <a:p xmlns:a="http://schemas.openxmlformats.org/drawingml/2006/main">
            <a:pPr algn="l"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>
                <a:latin typeface="PingFang SC"/>
                <a:ea typeface="PingFang SC"/>
                <a:cs typeface="PingFang SC"/>
              </a:rPr>
              <a:t>读取固定内容与约束</a:t>
            </a:r>
          </a:p>
        </p:txBody>
      </p:sp>
      <p:sp>
        <p:nvSpPr>
          <p:cNvPr id="8" name="process-node-2">
            <a:extLst xmlns:a="http://schemas.openxmlformats.org/drawingml/2006/main">
              <a:ext uri="{FF2B5EF4-FFF2-40B4-BE49-F238E27FC236}">
                <a16:creationId xmlns:a16="http://schemas.microsoft.com/office/drawing/2014/main" id="{AD87D25A-1093-4D7F-8101-02238280DF7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548786" y="1965960"/>
            <a:ext cx="2276856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6EB"/>
            </a:solidFill>
            <a:prstDash val="solid"/>
          </a:ln>
        </p:spPr>
        <p:txBody>
          <a:bodyPr xmlns:a="http://schemas.openxmlformats.org/drawingml/2006/main" wrap="square" lIns="137160" tIns="164592" rIns="137160" bIns="164592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选择版式</a:t>
            </a:r>
          </a:p>
          <a:p xmlns:a="http://schemas.openxmlformats.org/drawingml/2006/main">
            <a:pPr algn="l"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>
                <a:latin typeface="PingFang SC"/>
                <a:ea typeface="PingFang SC"/>
                <a:cs typeface="PingFang SC"/>
              </a:rPr>
              <a:t>匹配结构合同与容量</a:t>
            </a:r>
          </a:p>
        </p:txBody>
      </p:sp>
      <p:sp>
        <p:nvSpPr>
          <p:cNvPr id="9" name="process-node-3">
            <a:extLst xmlns:a="http://schemas.openxmlformats.org/drawingml/2006/main">
              <a:ext uri="{FF2B5EF4-FFF2-40B4-BE49-F238E27FC236}">
                <a16:creationId xmlns:a16="http://schemas.microsoft.com/office/drawing/2014/main" id="{722ECC52-4AE4-475D-B6CE-F4A2DE175F4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366053" y="1965960"/>
            <a:ext cx="2276856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FFDBCD"/>
            </a:solidFill>
            <a:prstDash val="solid"/>
          </a:ln>
        </p:spPr>
        <p:txBody>
          <a:bodyPr xmlns:a="http://schemas.openxmlformats.org/drawingml/2006/main" wrap="square" lIns="137160" tIns="164592" rIns="137160" bIns="164592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生成页面</a:t>
            </a:r>
          </a:p>
          <a:p xmlns:a="http://schemas.openxmlformats.org/drawingml/2006/main">
            <a:pPr algn="l"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>
                <a:latin typeface="PingFang SC"/>
                <a:ea typeface="PingFang SC"/>
                <a:cs typeface="PingFang SC"/>
              </a:rPr>
              <a:t>写入原生文本
图表与表格</a:t>
            </a:r>
          </a:p>
        </p:txBody>
      </p:sp>
      <p:sp>
        <p:nvSpPr>
          <p:cNvPr id="10" name="process-node-4">
            <a:extLst xmlns:a="http://schemas.openxmlformats.org/drawingml/2006/main">
              <a:ext uri="{FF2B5EF4-FFF2-40B4-BE49-F238E27FC236}">
                <a16:creationId xmlns:a16="http://schemas.microsoft.com/office/drawing/2014/main" id="{AB590C4C-96DE-4208-A4B5-D727F6FA15B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183319" y="1965960"/>
            <a:ext cx="2276856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6EB"/>
            </a:solidFill>
            <a:prstDash val="solid"/>
          </a:ln>
        </p:spPr>
        <p:txBody>
          <a:bodyPr xmlns:a="http://schemas.openxmlformats.org/drawingml/2006/main" wrap="square" lIns="137160" tIns="164592" rIns="137160" bIns="164592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校验交付</a:t>
            </a:r>
          </a:p>
          <a:p xmlns:a="http://schemas.openxmlformats.org/drawingml/2006/main">
            <a:pPr algn="l"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>
                <a:latin typeface="PingFang SC"/>
                <a:ea typeface="PingFang SC"/>
                <a:cs typeface="PingFang SC"/>
              </a:rPr>
              <a:t>运行结构、视觉
与交互检查</a:t>
            </a:r>
          </a:p>
        </p:txBody>
      </p:sp>
      <p:cxnSp>
        <p:nvCxnSpPr>
          <p:cNvPr id="26" name="connector-1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008376" y="3040380"/>
            <a:ext cx="54041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46A73"/>
            </a:solidFill>
            <a:prstDash val="solid"/>
            <a:tailEnd type="arrow" w="med" len="med"/>
          </a:ln>
        </p:spPr>
      </p:cxnSp>
      <p:cxnSp>
        <p:nvCxnSpPr>
          <p:cNvPr id="27" name="connector-2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825642" y="3040380"/>
            <a:ext cx="540411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46A73"/>
            </a:solidFill>
            <a:prstDash val="solid"/>
            <a:tailEnd type="arrow" w="med" len="med"/>
          </a:ln>
        </p:spPr>
      </p:cxnSp>
      <p:cxnSp>
        <p:nvCxnSpPr>
          <p:cNvPr id="28" name="connector-3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642909" y="3040380"/>
            <a:ext cx="54041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46A73"/>
            </a:solidFill>
            <a:prstDash val="solid"/>
            <a:tailEnd type="arrow" w="med" len="med"/>
          </a:ln>
        </p:spPr>
      </p:cxnSp>
      <p:cxnSp>
        <p:nvCxnSpPr>
          <p:cNvPr id="29" name="feedback-connector"/>
          <p:cNvCxnSpPr>
            <a:stCxn xmlns:a="http://schemas.openxmlformats.org/drawingml/2006/main" id="10" idx="2"/>
            <a:endCxn xmlns:a="http://schemas.openxmlformats.org/drawingml/2006/main" id="7" idx="2"/>
          </p:cNvCxnSpPr>
          <p:nvPr/>
        </p:nvCxnSpPr>
        <p:spPr>
          <a:xfrm xmlns:a="http://schemas.openxmlformats.org/drawingml/2006/main" flipH="1">
            <a:off x="1869948" y="4114800"/>
            <a:ext cx="8451799" cy="228600"/>
          </a:xfrm>
          <a:prstGeom xmlns:a="http://schemas.openxmlformats.org/drawingml/2006/main" prst="bentConnector5">
            <a:avLst/>
          </a:prstGeom>
          <a:ln xmlns:a="http://schemas.openxmlformats.org/drawingml/2006/main" w="19050">
            <a:solidFill>
              <a:srgbClr val="646A73"/>
            </a:solidFill>
            <a:prstDash val="dash"/>
            <a:tailEnd type="arrow" w="med" len="med"/>
          </a:ln>
        </p:spPr>
      </p:cxnSp>
      <p:sp>
        <p:nvSpPr>
          <p:cNvPr id="15" name="feedback-label">
            <a:extLst xmlns:a="http://schemas.openxmlformats.org/drawingml/2006/main">
              <a:ext uri="{FF2B5EF4-FFF2-40B4-BE49-F238E27FC236}">
                <a16:creationId xmlns:a16="http://schemas.microsoft.com/office/drawing/2014/main" id="{50C2F877-9BC7-4AC3-BB48-FFF540E5CA5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166360" y="5074920"/>
            <a:ext cx="1856232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latin typeface="PingFang SC"/>
                <a:ea typeface="PingFang SC"/>
                <a:cs typeface="PingFang SC"/>
              </a:rPr>
              <a:t>复核反馈</a:t>
            </a:r>
          </a:p>
        </p:txBody>
      </p:sp>
    </p:spTree>
    <p:extLst>
      <p:ext uri="{BB962C8B-B14F-4D97-AF65-F5344CB8AC3E}">
        <p14:creationId xmlns:p14="http://schemas.microsoft.com/office/powerpoint/2010/main" val="2023754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header-accent">
            <a:extLst xmlns:a="http://schemas.openxmlformats.org/drawingml/2006/main">
              <a:ext uri="{FF2B5EF4-FFF2-40B4-BE49-F238E27FC236}">
                <a16:creationId xmlns:a16="http://schemas.microsoft.com/office/drawing/2014/main" id="{7E1E98BA-6E29-406D-8622-584A902DAB0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137160"/>
            <a:ext cx="27432" cy="182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9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eader-text">
            <a:extLst xmlns:a="http://schemas.openxmlformats.org/drawingml/2006/main">
              <a:ext uri="{FF2B5EF4-FFF2-40B4-BE49-F238E27FC236}">
                <a16:creationId xmlns:a16="http://schemas.microsoft.com/office/drawing/2014/main" id="{E8C39187-7492-48E5-AC52-4E40FB3D7FB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41248" y="137160"/>
            <a:ext cx="10616184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latin typeface="PingFang SC"/>
                <a:ea typeface="PingFang SC"/>
                <a:cs typeface="PingFang SC"/>
              </a:rPr>
              <a:t>附录 A-1｜高密度页</a:t>
            </a:r>
          </a:p>
        </p:txBody>
      </p:sp>
      <p:sp>
        <p:nvSpPr>
          <p:cNvPr id="3" name="action-title">
            <a:extLst xmlns:a="http://schemas.openxmlformats.org/drawingml/2006/main">
              <a:ext uri="{FF2B5EF4-FFF2-40B4-BE49-F238E27FC236}">
                <a16:creationId xmlns:a16="http://schemas.microsoft.com/office/drawing/2014/main" id="{88B1A4B1-AD92-4A19-9470-D2DBCB035DA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502920"/>
            <a:ext cx="10728655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2200" b="1">
                <a:latin typeface="PingFang SC"/>
                <a:ea typeface="PingFang SC"/>
                <a:cs typeface="PingFang SC"/>
              </a:rPr>
              <a:t>高密度附录可以使用10pt正文，但不能牺牲可读性和编辑性</a:t>
            </a:r>
          </a:p>
        </p:txBody>
      </p:sp>
      <p:sp>
        <p:nvSpPr>
          <p:cNvPr id="4" name="footer-divider">
            <a:extLst xmlns:a="http://schemas.openxmlformats.org/drawingml/2006/main">
              <a:ext uri="{FF2B5EF4-FFF2-40B4-BE49-F238E27FC236}">
                <a16:creationId xmlns:a16="http://schemas.microsoft.com/office/drawing/2014/main" id="{54622703-CA3A-4A6D-997F-459942E4F9F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6355080"/>
            <a:ext cx="107286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5E6EB"/>
            </a:solidFill>
            <a:prstDash val="solid"/>
          </a:ln>
        </p:spPr>
      </p:sp>
      <p:sp>
        <p:nvSpPr>
          <p:cNvPr id="5" name="source-footnote">
            <a:extLst xmlns:a="http://schemas.openxmlformats.org/drawingml/2006/main">
              <a:ext uri="{FF2B5EF4-FFF2-40B4-BE49-F238E27FC236}">
                <a16:creationId xmlns:a16="http://schemas.microsoft.com/office/drawing/2014/main" id="{FE313E9C-4396-4A6A-A951-0E40BE07C65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6446520"/>
            <a:ext cx="98755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latin typeface="PingFang SC"/>
                <a:ea typeface="PingFang SC"/>
                <a:cs typeface="PingFang SC"/>
              </a:rPr>
              <a:t>数据来源：KSIB Golden Deck 格式基准规范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16E5DC-CABD-4FAF-8619-A3DA326C0EA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155680" y="649224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latin typeface="PingFang SC"/>
                <a:ea typeface="PingFang SC"/>
                <a:cs typeface="PingFang SC"/>
              </a:rPr>
              <a:t>6</a:t>
            </a:r>
          </a:p>
        </p:txBody>
      </p:sp>
      <p:sp>
        <p:nvSpPr>
          <p:cNvPr id="7" name="appendix-note">
            <a:extLst xmlns:a="http://schemas.openxmlformats.org/drawingml/2006/main">
              <a:ext uri="{FF2B5EF4-FFF2-40B4-BE49-F238E27FC236}">
                <a16:creationId xmlns:a16="http://schemas.microsoft.com/office/drawing/2014/main" id="{A35D4560-CD0D-489F-A4B7-27911EAA210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1389888"/>
            <a:ext cx="10728655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latin typeface="PingFang SC"/>
                <a:ea typeface="PingFang SC"/>
                <a:cs typeface="PingFang SC"/>
              </a:rPr>
              <a:t>基准对象清单｜仅用于对象类型与交互动作检查</a:t>
            </a:r>
          </a:p>
        </p:txBody>
      </p:sp>
      <p:graphicFrame>
        <p:nvGraphicFramePr>
          <p:cNvPr id="16" name="appendix-table"/>
          <p:cNvGraphicFramePr/>
          <p:nvPr/>
        </p:nvGraphicFramePr>
        <p:xfrm>
          <a:off xmlns:a="http://schemas.openxmlformats.org/drawingml/2006/main" x="731520" y="1737360"/>
          <a:ext xmlns:a="http://schemas.openxmlformats.org/drawingml/2006/main" cx="10728655" cy="448056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94360"/>
                <a:gridCol w="1783080"/>
                <a:gridCol w="1188720"/>
                <a:gridCol w="822960"/>
                <a:gridCol w="1554480"/>
                <a:gridCol w="2377440"/>
                <a:gridCol w="2407615"/>
              </a:tblGrid>
              <a:tr h="56007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#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对象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原生类型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字号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颜色/样式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交互动作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通过标准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5F6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cover-title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文本框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44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无填充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改字与撤销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文本直接编辑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chart-main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原生图表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12/14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灰＋橙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改数据与撤销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图表更新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table-main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原生表格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12/14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白底＋细规则线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改单元格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格式保持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column-left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文本框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14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混合加粗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改色及取消加粗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局部可控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connector-1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原生连接器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灰色实线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移动节点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连线吸附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feedback-connector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原生连接器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灰色虚线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改端点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箭头保持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page-number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页码文本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无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调整页序后复核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位置与格式稳定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7561926"/>
      </p:ext>
    </p:extLst>
  </p:cSld>
</p:sld>
</file>

<file path=ppt/theme/theme1.xml><?xml version="1.0" encoding="utf-8"?>
<a:theme xmlns:a="http://schemas.openxmlformats.org/drawingml/2006/main" name="ChatGPT">
  <a:themeElements>
    <a:clrScheme name="KSIB Management Review Orange">
      <a:dk1>
        <a:srgbClr val="1F2329"/>
      </a:dk1>
      <a:lt1>
        <a:srgbClr val="FFFFFF"/>
      </a:lt1>
      <a:dk2>
        <a:srgbClr val="646A73"/>
      </a:dk2>
      <a:lt2>
        <a:srgbClr val="FAFAFA"/>
      </a:lt2>
      <a:accent1>
        <a:srgbClr val="FF4906"/>
      </a:accent1>
      <a:accent2>
        <a:srgbClr val="D83D00"/>
      </a:accent2>
      <a:accent3>
        <a:srgbClr val="FFF7F3"/>
      </a:accent3>
      <a:accent4>
        <a:srgbClr val="FFDBCD"/>
      </a:accent4>
      <a:accent5>
        <a:srgbClr val="3B4048"/>
      </a:accent5>
      <a:accent6>
        <a:srgbClr val="E5E6EB"/>
      </a:accent6>
      <a:hlink>
        <a:srgbClr val="3370FF"/>
      </a:hlink>
      <a:folHlink>
        <a:srgbClr val="7C3AED"/>
      </a:folHlink>
    </a:clrScheme>
    <a:fontScheme name="KSIB Management Review Chinese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KSIB Management Review Orang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6</ap:Slides>
  <ap:Notes>6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2026-08-03T07:57:34.0540000Z</dcterms:created>
  <dcterms:modified xsi:type="dcterms:W3CDTF">2026-08-03T07:57:34.0540000Z</dcterms:modified>
</coreProperties>
</file>