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57e3cd058b4d85" /><Relationship Type="http://schemas.openxmlformats.org/officeDocument/2006/relationships/extended-properties" Target="/docProps/app.xml" Id="Ra76376f9c05a4618" /><Relationship Type="http://schemas.openxmlformats.org/officeDocument/2006/relationships/officeDocument" Target="/ppt/presentation.xml" Id="R5c07930bfff54c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6d767c86af4079"/>
  </p:sldMasterIdLst>
  <p:notesMasterIdLst>
    <p:notesMasterId xmlns:r="http://schemas.openxmlformats.org/officeDocument/2006/relationships" r:id="R6b123d8a156241f2"/>
  </p:notesMasterIdLst>
  <p:sldIdLst>
    <p:sldId xmlns:r="http://schemas.openxmlformats.org/officeDocument/2006/relationships" id="256" r:id="Rf844dd73dae7489e"/>
    <p:sldId xmlns:r="http://schemas.openxmlformats.org/officeDocument/2006/relationships" id="257" r:id="R9080910e12cc4764"/>
    <p:sldId xmlns:r="http://schemas.openxmlformats.org/officeDocument/2006/relationships" id="258" r:id="R0e6e70088972429a"/>
    <p:sldId xmlns:r="http://schemas.openxmlformats.org/officeDocument/2006/relationships" id="259" r:id="Rd6f739d7c1c94537"/>
    <p:sldId xmlns:r="http://schemas.openxmlformats.org/officeDocument/2006/relationships" id="260" r:id="R2b6844837dbf4eee"/>
    <p:sldId xmlns:r="http://schemas.openxmlformats.org/officeDocument/2006/relationships" id="261" r:id="Ra4c1c0e3a6dd42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4a0631316b467d" /><Relationship Type="http://schemas.openxmlformats.org/officeDocument/2006/relationships/slideMaster" Target="/ppt/slideMasters/slideMaster1.xml" Id="R8d6d767c86af4079" /><Relationship Type="http://schemas.openxmlformats.org/officeDocument/2006/relationships/notesMaster" Target="/ppt/notesMasters/notesMaster1.xml" Id="R6b123d8a156241f2" /><Relationship Type="http://schemas.openxmlformats.org/officeDocument/2006/relationships/presProps" Target="/ppt/presProps.xml" Id="Rf47e24b837974695" /><Relationship Type="http://schemas.openxmlformats.org/officeDocument/2006/relationships/tableStyles" Target="/ppt/tableStyles.xml" Id="R1af0ce740ce740fb" /><Relationship Type="http://schemas.openxmlformats.org/officeDocument/2006/relationships/slide" Target="/ppt/slides/slide1.xml" Id="Rf844dd73dae7489e" /><Relationship Type="http://schemas.openxmlformats.org/officeDocument/2006/relationships/slide" Target="/ppt/slides/slide2.xml" Id="R9080910e12cc4764" /><Relationship Type="http://schemas.openxmlformats.org/officeDocument/2006/relationships/slide" Target="/ppt/slides/slide3.xml" Id="R0e6e70088972429a" /><Relationship Type="http://schemas.openxmlformats.org/officeDocument/2006/relationships/slide" Target="/ppt/slides/slide4.xml" Id="Rd6f739d7c1c94537" /><Relationship Type="http://schemas.openxmlformats.org/officeDocument/2006/relationships/slide" Target="/ppt/slides/slide5.xml" Id="R2b6844837dbf4eee" /><Relationship Type="http://schemas.openxmlformats.org/officeDocument/2006/relationships/slide" Target="/ppt/slides/slide6.xml" Id="Ra4c1c0e3a6dd42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0bb20deed64a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3B4048"/>
      </a:accent5>
      <a:accent6>
        <a:srgbClr val="E5E6EB"/>
      </a:accent6>
      <a:hlink>
        <a:srgbClr val="3370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d0d53329da44e1" /><Relationship Type="http://schemas.openxmlformats.org/officeDocument/2006/relationships/notesMaster" Target="/ppt/notesMasters/notesMaster1.xml" Id="Rbe0b9174ef5a49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8ce34bde564def" /><Relationship Type="http://schemas.openxmlformats.org/officeDocument/2006/relationships/notesMaster" Target="/ppt/notesMasters/notesMaster1.xml" Id="Re291c82d7f7c4d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ba14b412814bf0" /><Relationship Type="http://schemas.openxmlformats.org/officeDocument/2006/relationships/notesMaster" Target="/ppt/notesMasters/notesMaster1.xml" Id="R4664d90af89443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c2006405064de8" /><Relationship Type="http://schemas.openxmlformats.org/officeDocument/2006/relationships/notesMaster" Target="/ppt/notesMasters/notesMaster1.xml" Id="R0e7245ef187c44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ef15aaf64d484f" /><Relationship Type="http://schemas.openxmlformats.org/officeDocument/2006/relationships/notesMaster" Target="/ppt/notesMasters/notesMaster1.xml" Id="Rb4b4885fad9148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2777eb9f364926" /><Relationship Type="http://schemas.openxmlformats.org/officeDocument/2006/relationships/notesMaster" Target="/ppt/notesMasters/notesMaster1.xml" Id="R327cc4ba376040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ff320def448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30c2cb432a4125" /><Relationship Type="http://schemas.openxmlformats.org/officeDocument/2006/relationships/slideLayout" Target="/ppt/slideLayouts/slideLayout1.xml" Id="Re9825e782ceb4b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825e782ceb4b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3B4048"/>
      </a:accent5>
      <a:accent6>
        <a:srgbClr val="E5E6EB"/>
      </a:accent6>
      <a:hlink>
        <a:srgbClr val="3370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5570579e34553" /><Relationship Type="http://schemas.openxmlformats.org/officeDocument/2006/relationships/notesSlide" Target="/ppt/notesSlides/notesSlide1.xml" Id="Rb46627bc162644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d1ff9ca1946b0" /><Relationship Type="http://schemas.openxmlformats.org/officeDocument/2006/relationships/chart" Target="/ppt/slides/charts/chart1.xml" Id="Rcaa667a167204ed7" /><Relationship Type="http://schemas.openxmlformats.org/officeDocument/2006/relationships/notesSlide" Target="/ppt/notesSlides/notesSlide2.xml" Id="R840f05aed42444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27a164c9e41fa" /><Relationship Type="http://schemas.openxmlformats.org/officeDocument/2006/relationships/notesSlide" Target="/ppt/notesSlides/notesSlide3.xml" Id="R5aa4681c7cb544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8e439e8c84d45" /><Relationship Type="http://schemas.openxmlformats.org/officeDocument/2006/relationships/notesSlide" Target="/ppt/notesSlides/notesSlide4.xml" Id="Rdf2df37d7aef48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da1ce06c24655" /><Relationship Type="http://schemas.openxmlformats.org/officeDocument/2006/relationships/notesSlide" Target="/ppt/notesSlides/notesSlide5.xml" Id="R18d0fcd2f42c4b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a3882962247f5" /><Relationship Type="http://schemas.openxmlformats.org/officeDocument/2006/relationships/notesSlide" Target="/ppt/notesSlides/notesSlide6.xml" Id="Rabbc46f75ec3431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类别指数</c:v>
          </c:tx>
          <c:spPr>
            <a:solidFill xmlns:a="http://schemas.openxmlformats.org/drawingml/2006/main">
              <a:srgbClr val="D9DCE1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FF4906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646A73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646A73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646A73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00" b="1">
                      <a:solidFill>
                        <a:srgbClr val="FF490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</c:strLit>
          </c:cat>
          <c:val>
            <c:numLit>
              <c:formatCode>0</c:formatCode>
              <c:ptCount val="4"/>
              <c:pt idx="0">
                <c:v>18</c:v>
              </c:pt>
              <c:pt idx="1">
                <c:v>32</c:v>
              </c:pt>
              <c:pt idx="2">
                <c:v>41</c:v>
              </c:pt>
              <c:pt idx="3">
                <c:v>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646A7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6A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accent-line">
            <a:extLst xmlns:a="http://schemas.openxmlformats.org/drawingml/2006/main">
              <a:ext uri="{FF2B5EF4-FFF2-40B4-BE49-F238E27FC236}">
                <a16:creationId xmlns:a16="http://schemas.microsoft.com/office/drawing/2014/main" id="{3D550EB7-359E-41A9-B084-3F9E8BF178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960120"/>
            <a:ext cx="54864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E87374E-9028-4267-9D57-6B33EBFC21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112" y="85953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FF490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latin typeface="PingFang SC"/>
                <a:ea typeface="PingFang SC"/>
                <a:cs typeface="PingFang SC"/>
              </a:rPr>
              <a:t>KSIB FORMAT ENGINEERING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D84F858-2501-401D-A004-60A5393ADC2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112" y="1828800"/>
            <a:ext cx="969264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4400" b="1">
                <a:latin typeface="PingFang SC"/>
                <a:ea typeface="PingFang SC"/>
                <a:cs typeface="PingFang SC"/>
              </a:rPr>
              <a:t>KSIB / MBB FORMAT</a:t>
            </a:r>
          </a:p>
          <a:p xmlns:a="http://schemas.openxmlformats.org/drawingml/2006/main">
            <a:pPr algn="l">
              <a:defRPr sz="4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4400" b="1">
                <a:latin typeface="PingFang SC"/>
                <a:ea typeface="PingFang SC"/>
                <a:cs typeface="PingFang SC"/>
              </a:rPr>
              <a:t>GOLDEN DECK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E9A1DD8-B66F-40AA-B1BD-DA242DE628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112" y="3154680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latin typeface="PingFang SC"/>
                <a:ea typeface="PingFang SC"/>
                <a:cs typeface="PingFang SC"/>
              </a:rPr>
              <a:t>咨询型PowerPoint格式与原生可编辑性基准</a:t>
            </a:r>
          </a:p>
        </p:txBody>
      </p:sp>
      <p:sp>
        <p:nvSpPr>
          <p:cNvPr id="5" name="cover-statement">
            <a:extLst xmlns:a="http://schemas.openxmlformats.org/drawingml/2006/main">
              <a:ext uri="{FF2B5EF4-FFF2-40B4-BE49-F238E27FC236}">
                <a16:creationId xmlns:a16="http://schemas.microsoft.com/office/drawing/2014/main" id="{A288CBBC-B6F6-42EA-AA11-7BE6C351CB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112" y="388620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latin typeface="PingFang SC"/>
                <a:ea typeface="PingFang SC"/>
                <a:cs typeface="PingFang SC"/>
              </a:rPr>
              <a:t>固定6页、固定对象、固定样式；仅评估格式与编辑性，不评估内容生成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27C2AFB0-0B05-4738-AEA9-73ECC5073A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6112" y="5989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Benchmark v1.0｜2026-07-30</a:t>
            </a:r>
          </a:p>
        </p:txBody>
      </p:sp>
    </p:spTree>
    <p:extLst>
      <p:ext uri="{BB962C8B-B14F-4D97-AF65-F5344CB8AC3E}">
        <p14:creationId xmlns:p14="http://schemas.microsoft.com/office/powerpoint/2010/main" val="28254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5F1EB813-00D8-4BC9-8954-F1AFFEACF7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50FA922A-3FAF-4AD3-8836-69B565D961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I-1｜原生图表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7F22F2C5-4D50-443D-9292-0D96FE356B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类别D达到57，形成唯一视觉焦点；其余三项保持中性呈现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0E56996-5579-4EDC-BCCA-64CDA8E4355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905256"/>
            <a:ext cx="10728655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基准测试虚构数据｜单系列、4个类别、单位：指数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175C3ED-BE8C-4E6C-8272-5D3DD785BC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188720"/>
            <a:ext cx="1072865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FB3F879-D239-4A21-85B1-E9D58AD1D0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7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EF80EC9B-68F7-464E-B124-FE4D85899A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基准测试虚构数据；仅用于格式与编辑性测试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18A738-38D5-4F67-B3F7-20C6045D7D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23" name="chart-main"/>
          <p:cNvGraphicFramePr/>
          <p:nvPr/>
        </p:nvGraphicFramePr>
        <p:xfrm>
          <a:off xmlns:a="http://schemas.openxmlformats.org/drawingml/2006/main" x="731520" y="1389888"/>
          <a:ext xmlns:a="http://schemas.openxmlformats.org/drawingml/2006/main" cx="7863840" cy="47548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a667a167204ed7"/>
          </a:graphicData>
        </a:graphic>
      </p:graphicFrame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10B2BCE0-6925-432E-9B1C-7C4A287534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5400" y="1600200"/>
            <a:ext cx="2542032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FF4906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latin typeface="PingFang SC"/>
                <a:ea typeface="PingFang SC"/>
                <a:cs typeface="PingFang SC"/>
              </a:rPr>
              <a:t>57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B492828-E4D2-4C4B-8E21-EB85A07AD4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5400" y="2084832"/>
            <a:ext cx="254203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最高值｜类别D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6592C578-0A65-4F8E-A0B2-92BBDBBE241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5400" y="2788920"/>
            <a:ext cx="2542032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latin typeface="PingFang SC"/>
                <a:ea typeface="PingFang SC"/>
                <a:cs typeface="PingFang SC"/>
              </a:rPr>
              <a:t>+39</a:t>
            </a:r>
          </a:p>
        </p:txBody>
      </p:sp>
      <p:sp>
        <p:nvSpPr>
          <p:cNvPr id="1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A6C4B93A-A815-465F-93A3-CD9A501B4C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5400" y="3273552"/>
            <a:ext cx="254203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较类别A的差值</a:t>
            </a:r>
          </a:p>
        </p:txBody>
      </p:sp>
      <p:sp>
        <p:nvSpPr>
          <p:cNvPr id="14" name="chart-reading-note">
            <a:extLst xmlns:a="http://schemas.openxmlformats.org/drawingml/2006/main">
              <a:ext uri="{FF2B5EF4-FFF2-40B4-BE49-F238E27FC236}">
                <a16:creationId xmlns:a16="http://schemas.microsoft.com/office/drawing/2014/main" id="{F1FA7121-9AFB-4B25-8802-FE1D61F2AD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15400" y="4160520"/>
            <a:ext cx="2542032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latin typeface="PingFang SC"/>
                <a:ea typeface="PingFang SC"/>
                <a:cs typeface="PingFang SC"/>
              </a:rPr>
              <a:t>强调色只服务于唯一主证据；其余类别使用中性色，避免制造多个视觉中心。</a:t>
            </a:r>
          </a:p>
        </p:txBody>
      </p:sp>
    </p:spTree>
    <p:extLst>
      <p:ext uri="{BB962C8B-B14F-4D97-AF65-F5344CB8AC3E}">
        <p14:creationId xmlns:p14="http://schemas.microsoft.com/office/powerpoint/2010/main" val="531754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53F43E48-BDE5-4977-B68A-1C835CD425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28637BD6-8EC4-4F17-BE0B-F695A85A07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I-2｜原生表格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8DE1E7F2-B211-4F33-A690-CE3E362E60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原生表格应在高信息密度下保留单元格级格式控制</a:t>
            </a:r>
          </a:p>
        </p:txBody>
      </p:sp>
      <p:sp>
        <p:nvSpPr>
          <p:cNvPr id="4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475D141-EAB7-4911-A3B7-8F85B4DDF1B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005840"/>
            <a:ext cx="1072865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E8E3267-FC6E-42CD-9DBC-F83CB60CF2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B6A56B76-0EB3-46C4-9576-7C69DA012B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基准测试虚构数据；仅用于格式与编辑性测试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5B436A-9E66-455C-9FA0-C9861339ED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3</a:t>
            </a:r>
          </a:p>
        </p:txBody>
      </p:sp>
      <p:graphicFrame>
        <p:nvGraphicFramePr>
          <p:cNvPr id="19" name="table-main"/>
          <p:cNvGraphicFramePr/>
          <p:nvPr/>
        </p:nvGraphicFramePr>
        <p:xfrm>
          <a:off xmlns:a="http://schemas.openxmlformats.org/drawingml/2006/main" x="731520" y="1417320"/>
          <a:ext xmlns:a="http://schemas.openxmlformats.org/drawingml/2006/main" cx="7818120" cy="44348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0160"/>
                <a:gridCol w="1051560"/>
                <a:gridCol w="1051560"/>
                <a:gridCol w="1051560"/>
                <a:gridCol w="3383280"/>
              </a:tblGrid>
              <a:tr h="7391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模块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基期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当期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变化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112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+12%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稳定上升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+4%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小幅增长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97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-3%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轻微回落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126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+26%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增长最快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439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+9.8%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基准汇总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total-rule">
            <a:extLst xmlns:a="http://schemas.openxmlformats.org/drawingml/2006/main">
              <a:ext uri="{FF2B5EF4-FFF2-40B4-BE49-F238E27FC236}">
                <a16:creationId xmlns:a16="http://schemas.microsoft.com/office/drawing/2014/main" id="{10AEE45B-1C63-4DD6-87EF-7C3CBEB287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113020"/>
            <a:ext cx="7818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4906"/>
            </a:solidFill>
            <a:prstDash val="solid"/>
          </a:ln>
        </p:spPr>
      </p:sp>
      <p:sp>
        <p:nvSpPr>
          <p:cNvPr id="10" name="insight-panel-accent">
            <a:extLst xmlns:a="http://schemas.openxmlformats.org/drawingml/2006/main">
              <a:ext uri="{FF2B5EF4-FFF2-40B4-BE49-F238E27FC236}">
                <a16:creationId xmlns:a16="http://schemas.microsoft.com/office/drawing/2014/main" id="{96A186C4-0D85-4A3F-8E46-413FD7F2E9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69680" y="1417320"/>
            <a:ext cx="36576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sight-panel">
            <a:extLst xmlns:a="http://schemas.openxmlformats.org/drawingml/2006/main">
              <a:ext uri="{FF2B5EF4-FFF2-40B4-BE49-F238E27FC236}">
                <a16:creationId xmlns:a16="http://schemas.microsoft.com/office/drawing/2014/main" id="{F67E8526-B5A9-4728-8236-E267FC6A13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89136" y="1417320"/>
            <a:ext cx="2368296" cy="310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格式验证重点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改单元格填充</a:t>
            </a:r>
            <a:r>
              <a:rPr sz="1400" b="0">
                <a:latin typeface="PingFang SC"/>
                <a:ea typeface="PingFang SC"/>
                <a:cs typeface="PingFang SC"/>
              </a:rPr>
              <a:t>｜验证局部样式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改字体颜色</a:t>
            </a:r>
            <a:r>
              <a:rPr sz="1400" b="0">
                <a:latin typeface="PingFang SC"/>
                <a:ea typeface="PingFang SC"/>
                <a:cs typeface="PingFang SC"/>
              </a:rPr>
              <a:t>｜验证文字控制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取消加粗</a:t>
            </a:r>
            <a:r>
              <a:rPr sz="1400" b="0">
                <a:latin typeface="PingFang SC"/>
                <a:ea typeface="PingFang SC"/>
                <a:cs typeface="PingFang SC"/>
              </a:rPr>
              <a:t>｜验证按钮语义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复制粘贴</a:t>
            </a:r>
            <a:r>
              <a:rPr sz="1400" b="0">
                <a:latin typeface="PingFang SC"/>
                <a:ea typeface="PingFang SC"/>
                <a:cs typeface="PingFang SC"/>
              </a:rPr>
              <a:t>｜仍为原生表格</a:t>
            </a:r>
          </a:p>
        </p:txBody>
      </p:sp>
    </p:spTree>
    <p:extLst>
      <p:ext uri="{BB962C8B-B14F-4D97-AF65-F5344CB8AC3E}">
        <p14:creationId xmlns:p14="http://schemas.microsoft.com/office/powerpoint/2010/main" val="100635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B0E78E86-32A0-46B3-965F-62D3160E85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4E3219D7-7697-4423-9BE6-D53ABFD7B9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I-3｜左右比较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FFA4961C-B485-440B-9FD6-54720E5681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左右比较依靠统一基线、等宽列和局部强调建立清晰取舍</a:t>
            </a:r>
          </a:p>
        </p:txBody>
      </p:sp>
      <p:sp>
        <p:nvSpPr>
          <p:cNvPr id="4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7DFC488-AF02-41A7-B0BF-0618D9C161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005840"/>
            <a:ext cx="1072865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AD40077-2841-4ECA-A563-4AE0092208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10A891A2-B6E3-4D7D-B53B-F4DE3D4426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基准测试虚构内容；仅用于格式与编辑性测试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1BFD7B-4ABF-44F0-A807-72B3B8D7D6E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8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B0A83B15-8F6E-4B4E-8C80-354027E1DB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4476" y="1225296"/>
            <a:ext cx="9144" cy="4718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lumn-left">
            <a:extLst xmlns:a="http://schemas.openxmlformats.org/drawingml/2006/main">
              <a:ext uri="{FF2B5EF4-FFF2-40B4-BE49-F238E27FC236}">
                <a16:creationId xmlns:a16="http://schemas.microsoft.com/office/drawing/2014/main" id="{02C7D857-9126-4B0C-8870-173DE3024A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225296"/>
            <a:ext cx="5202936" cy="4718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164592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方案A｜稳态优化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适用条件｜</a:t>
            </a:r>
            <a:r>
              <a:rPr sz="1400" b="0">
                <a:latin typeface="PingFang SC"/>
                <a:ea typeface="PingFang SC"/>
                <a:cs typeface="PingFang SC"/>
              </a:rPr>
              <a:t>已有流程可复用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核心动作｜</a:t>
            </a:r>
            <a:r>
              <a:rPr sz="1400" b="0">
                <a:latin typeface="PingFang SC"/>
                <a:ea typeface="PingFang SC"/>
                <a:cs typeface="PingFang SC"/>
              </a:rPr>
              <a:t>缩短交付链路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资源需求｜</a:t>
            </a:r>
            <a:r>
              <a:rPr sz="1400" b="1">
                <a:latin typeface="PingFang SC"/>
                <a:ea typeface="PingFang SC"/>
                <a:cs typeface="PingFang SC"/>
              </a:rPr>
              <a:t>2</a:t>
            </a:r>
            <a:r>
              <a:rPr sz="1400" b="0">
                <a:latin typeface="PingFang SC"/>
                <a:ea typeface="PingFang SC"/>
                <a:cs typeface="PingFang SC"/>
              </a:rPr>
              <a:t>个角色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主要风险｜</a:t>
            </a:r>
            <a:r>
              <a:rPr sz="1400" b="0">
                <a:latin typeface="PingFang SC"/>
                <a:ea typeface="PingFang SC"/>
                <a:cs typeface="PingFang SC"/>
              </a:rPr>
              <a:t>局部改善有限</a:t>
            </a:r>
          </a:p>
        </p:txBody>
      </p:sp>
      <p:sp>
        <p:nvSpPr>
          <p:cNvPr id="10" name="column-right">
            <a:extLst xmlns:a="http://schemas.openxmlformats.org/drawingml/2006/main">
              <a:ext uri="{FF2B5EF4-FFF2-40B4-BE49-F238E27FC236}">
                <a16:creationId xmlns:a16="http://schemas.microsoft.com/office/drawing/2014/main" id="{E3AC8DEA-C52A-4863-A5C0-DE2BDEEF71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54496" y="1225296"/>
            <a:ext cx="5202936" cy="4718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64592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方案B｜结构升级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适用条件｜</a:t>
            </a:r>
            <a:r>
              <a:rPr sz="1400" b="0">
                <a:latin typeface="PingFang SC"/>
                <a:ea typeface="PingFang SC"/>
                <a:cs typeface="PingFang SC"/>
              </a:rPr>
              <a:t>需重构关键接口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核心动作｜</a:t>
            </a:r>
            <a:r>
              <a:rPr sz="1400" b="0">
                <a:latin typeface="PingFang SC"/>
                <a:ea typeface="PingFang SC"/>
                <a:cs typeface="PingFang SC"/>
              </a:rPr>
              <a:t>建立统一模板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资源需求｜</a:t>
            </a:r>
            <a:r>
              <a:rPr sz="1400" b="1">
                <a:latin typeface="PingFang SC"/>
                <a:ea typeface="PingFang SC"/>
                <a:cs typeface="PingFang SC"/>
              </a:rPr>
              <a:t>3</a:t>
            </a:r>
            <a:r>
              <a:rPr sz="1400" b="0">
                <a:latin typeface="PingFang SC"/>
                <a:ea typeface="PingFang SC"/>
                <a:cs typeface="PingFang SC"/>
              </a:rPr>
              <a:t>个角色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主要风险｜</a:t>
            </a:r>
            <a:r>
              <a:rPr sz="1400" b="0">
                <a:latin typeface="PingFang SC"/>
                <a:ea typeface="PingFang SC"/>
                <a:cs typeface="PingFang SC"/>
              </a:rPr>
              <a:t>迁移期成本较高</a:t>
            </a:r>
          </a:p>
        </p:txBody>
      </p:sp>
    </p:spTree>
    <p:extLst>
      <p:ext uri="{BB962C8B-B14F-4D97-AF65-F5344CB8AC3E}">
        <p14:creationId xmlns:p14="http://schemas.microsoft.com/office/powerpoint/2010/main" val="15641662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46B4CF8C-6E2C-479A-B1D2-5F2A66960A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F4C0D8EC-FEBD-41D4-B7D4-D66EA72F25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I-4｜流程与连接器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BFB5E43A-EEC8-415C-91BD-FF92D4D589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02920"/>
            <a:ext cx="10728655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端到端流程通过四个原生节点形成闭环，</a:t>
            </a:r>
          </a:p>
          <a:p xmlns:a="http://schemas.openxmlformats.org/drawingml/2006/main"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反馈连接器将复核结果重新带回输入端</a:t>
            </a:r>
          </a:p>
        </p:txBody>
      </p:sp>
      <p:sp>
        <p:nvSpPr>
          <p:cNvPr id="4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099E02D-1B9F-4EFD-BAFB-EFD17B79E3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261872"/>
            <a:ext cx="1072865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751FE29-D21E-4C2B-9BA2-4B06D3AC8F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2BC08B21-780C-4EAE-B269-8BCBB7B8C4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格式基准规范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CC056F-320B-4601-9155-6A43C6E3A3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8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E377C120-4C9A-4C07-99A2-E7E88801F3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965960"/>
            <a:ext cx="227685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6EB"/>
            </a:solidFill>
            <a:prstDash val="solid"/>
          </a:ln>
        </p:spPr>
        <p:txBody>
          <a:bodyPr xmlns:a="http://schemas.openxmlformats.org/drawingml/2006/main" wrap="square" lIns="137160" tIns="164592" rIns="137160" bIns="16459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接收输入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读取固定内容与约束</a:t>
            </a:r>
          </a:p>
        </p:txBody>
      </p:sp>
      <p:sp>
        <p:nvSpPr>
          <p:cNvPr id="9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EDEFCE85-52DB-4723-8534-187EC241B2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48786" y="1965960"/>
            <a:ext cx="227685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6EB"/>
            </a:solidFill>
            <a:prstDash val="solid"/>
          </a:ln>
        </p:spPr>
        <p:txBody>
          <a:bodyPr xmlns:a="http://schemas.openxmlformats.org/drawingml/2006/main" wrap="square" lIns="137160" tIns="164592" rIns="137160" bIns="16459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选择版式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匹配结构合同与容量</a:t>
            </a:r>
          </a:p>
        </p:txBody>
      </p:sp>
      <p:sp>
        <p:nvSpPr>
          <p:cNvPr id="10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EBBE2CF9-F50C-4C7E-842A-5124438741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66053" y="1965960"/>
            <a:ext cx="227685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FFDBCD"/>
            </a:solidFill>
            <a:prstDash val="solid"/>
          </a:ln>
        </p:spPr>
        <p:txBody>
          <a:bodyPr xmlns:a="http://schemas.openxmlformats.org/drawingml/2006/main" wrap="square" lIns="137160" tIns="164592" rIns="137160" bIns="16459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生成页面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写入原生文本
图表与表格</a:t>
            </a:r>
          </a:p>
        </p:txBody>
      </p:sp>
      <p:sp>
        <p:nvSpPr>
          <p:cNvPr id="11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10A305C7-3B5D-4D48-9639-8B09ED1FB5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83319" y="1965960"/>
            <a:ext cx="2276856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6EB"/>
            </a:solidFill>
            <a:prstDash val="solid"/>
          </a:ln>
        </p:spPr>
        <p:txBody>
          <a:bodyPr xmlns:a="http://schemas.openxmlformats.org/drawingml/2006/main" wrap="square" lIns="137160" tIns="164592" rIns="137160" bIns="16459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latin typeface="PingFang SC"/>
                <a:ea typeface="PingFang SC"/>
                <a:cs typeface="PingFang SC"/>
              </a:rPr>
              <a:t>校验交付</a:t>
            </a:r>
          </a:p>
          <a:p xmlns:a="http://schemas.openxmlformats.org/drawingml/2006/main">
            <a:pPr algn="l">
              <a:defRPr sz="14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1400">
                <a:latin typeface="PingFang SC"/>
                <a:ea typeface="PingFang SC"/>
                <a:cs typeface="PingFang SC"/>
              </a:rPr>
              <a:t>运行结构、视觉
与交互检查</a:t>
            </a:r>
          </a:p>
        </p:txBody>
      </p:sp>
      <p:cxnSp>
        <p:nvCxnSpPr>
          <p:cNvPr id="28" name="connector-1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08376" y="3040380"/>
            <a:ext cx="54041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29" name="connector-2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5642" y="3040380"/>
            <a:ext cx="540411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30" name="connector-3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642909" y="3040380"/>
            <a:ext cx="54041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6A73"/>
            </a:solidFill>
            <a:prstDash val="solid"/>
            <a:tailEnd type="arrow" w="med" len="med"/>
          </a:ln>
        </p:spPr>
      </p:cxnSp>
      <p:cxnSp>
        <p:nvCxnSpPr>
          <p:cNvPr id="31" name="feedback-connector"/>
          <p:cNvCxnSpPr>
            <a:stCxn xmlns:a="http://schemas.openxmlformats.org/drawingml/2006/main" id="11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1869948" y="4114800"/>
            <a:ext cx="8451799" cy="228600"/>
          </a:xfrm>
          <a:prstGeom xmlns:a="http://schemas.openxmlformats.org/drawingml/2006/main" prst="bentConnector5">
            <a:avLst/>
          </a:prstGeom>
          <a:ln xmlns:a="http://schemas.openxmlformats.org/drawingml/2006/main" w="19050">
            <a:solidFill>
              <a:srgbClr val="646A73"/>
            </a:solidFill>
            <a:prstDash val="dash"/>
            <a:tailEnd type="arrow" w="med" len="med"/>
          </a:ln>
        </p:spPr>
      </p:cxnSp>
      <p:sp>
        <p:nvSpPr>
          <p:cNvPr id="16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A4851857-A8DC-4F88-950F-5050AC5994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66360" y="5074920"/>
            <a:ext cx="185623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latin typeface="PingFang SC"/>
                <a:ea typeface="PingFang SC"/>
                <a:cs typeface="PingFang SC"/>
              </a:rPr>
              <a:t>复核反馈</a:t>
            </a:r>
          </a:p>
        </p:txBody>
      </p:sp>
    </p:spTree>
    <p:extLst>
      <p:ext uri="{BB962C8B-B14F-4D97-AF65-F5344CB8AC3E}">
        <p14:creationId xmlns:p14="http://schemas.microsoft.com/office/powerpoint/2010/main" val="1755627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554291BF-84E2-4110-BA27-BB2DA56A58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6CC1186F-6006-4BDD-9792-4D1DED5700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latin typeface="PingFang SC"/>
                <a:ea typeface="PingFang SC"/>
                <a:cs typeface="PingFang SC"/>
              </a:rPr>
              <a:t>附录 A-1｜高密度页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8DDBA627-7C8E-43FE-B139-34D800B768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latin typeface="PingFang SC"/>
                <a:ea typeface="PingFang SC"/>
                <a:cs typeface="PingFang SC"/>
              </a:rPr>
              <a:t>高密度附录可以使用10pt正文，但不能牺牲可读性和编辑性</a:t>
            </a:r>
          </a:p>
        </p:txBody>
      </p:sp>
      <p:sp>
        <p:nvSpPr>
          <p:cNvPr id="4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CD85D56-FAE7-4355-8A2A-B86B63254D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005840"/>
            <a:ext cx="1072865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2BC5EDE-7548-4E54-8E0C-B25CC6C027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8B269697-B605-4AC3-BC86-A647FF5FFB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数据来源：KSIB Golden Deck 格式基准规范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A3F46D-68F0-4882-B4E7-D555A18445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8" name="appendix-note">
            <a:extLst xmlns:a="http://schemas.openxmlformats.org/drawingml/2006/main">
              <a:ext uri="{FF2B5EF4-FFF2-40B4-BE49-F238E27FC236}">
                <a16:creationId xmlns:a16="http://schemas.microsoft.com/office/drawing/2014/main" id="{4D3C36A8-A50C-45BD-A5A9-FA64B0C635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1520" y="1207008"/>
            <a:ext cx="10728655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latin typeface="PingFang SC"/>
                <a:ea typeface="PingFang SC"/>
                <a:cs typeface="PingFang SC"/>
              </a:rPr>
              <a:t>基准对象清单｜仅用于对象类型与交互动作检查</a:t>
            </a:r>
          </a:p>
        </p:txBody>
      </p:sp>
      <p:graphicFrame>
        <p:nvGraphicFramePr>
          <p:cNvPr id="18" name="appendix-table"/>
          <p:cNvGraphicFramePr/>
          <p:nvPr/>
        </p:nvGraphicFramePr>
        <p:xfrm>
          <a:off xmlns:a="http://schemas.openxmlformats.org/drawingml/2006/main" x="731520" y="1554480"/>
          <a:ext xmlns:a="http://schemas.openxmlformats.org/drawingml/2006/main" cx="10728655" cy="4663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4360"/>
                <a:gridCol w="1783080"/>
                <a:gridCol w="1188720"/>
                <a:gridCol w="822960"/>
                <a:gridCol w="1554480"/>
                <a:gridCol w="2377440"/>
                <a:gridCol w="2407615"/>
              </a:tblGrid>
              <a:tr h="5829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对象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原生类型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字号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颜色/样式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交互动作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通过标准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FF4906"/>
                      </a:solidFill>
                    </a:lnT>
                    <a:lnB w="9525">
                      <a:solidFill>
                        <a:srgbClr val="AEB2BA"/>
                      </a:solidFill>
                    </a:lnB>
                    <a:solidFill>
                      <a:srgbClr val="F5F6F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cover-title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文本框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无填充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改字与撤销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文本直接编辑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chart-main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原生图表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12/14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灰＋橙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改数据与撤销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图表更新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table-main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原生表格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12/14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白底＋细规则线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改单元格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格式保持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column-left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文本框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混合加粗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改色及取消加粗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局部可控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connector-1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原生连接器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灰色实线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移动节点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连线吸附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feedback-connector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原生连接器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灰色虚线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改端点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箭头保持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>
                      <a:solidFill>
                        <a:srgbClr val="E5E6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page-number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页码文本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调整页序后复核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32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位置与格式稳定</a:t>
                      </a:r>
                    </a:p>
                  </a:txBody>
                  <a:tcPr marL="91440" marR="9144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306150"/>
      </p:ext>
    </p:extLst>
  </p:cSld>
</p:sld>
</file>

<file path=ppt/theme/theme1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3B4048"/>
      </a:accent5>
      <a:accent6>
        <a:srgbClr val="E5E6EB"/>
      </a:accent6>
      <a:hlink>
        <a:srgbClr val="3370FF"/>
      </a:hlink>
      <a:folHlink>
        <a:srgbClr val="7C3AED"/>
      </a:folHlink>
    </a:clrScheme>
    <a:fontScheme name="KSIB Management Review Chinese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6</ap:Slides>
  <ap:Notes>6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2026-07-31T09:24:47.9580000Z</dcterms:created>
  <dcterms:modified xsi:type="dcterms:W3CDTF">2026-07-31T09:24:47.9580000Z</dcterms:modified>
</coreProperties>
</file>