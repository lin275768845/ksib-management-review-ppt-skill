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35f28255dd44ef" /><Relationship Type="http://schemas.openxmlformats.org/officeDocument/2006/relationships/extended-properties" Target="/docProps/app.xml" Id="R5ec144e48d8d4e8b" /><Relationship Type="http://schemas.openxmlformats.org/officeDocument/2006/relationships/officeDocument" Target="/ppt/presentation.xml" Id="R39baaa577efc44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f4a6706c174828"/>
  </p:sldMasterIdLst>
  <p:notesMasterIdLst>
    <p:notesMasterId xmlns:r="http://schemas.openxmlformats.org/officeDocument/2006/relationships" r:id="R1a3fb14e18674446"/>
  </p:notesMasterIdLst>
  <p:sldIdLst>
    <p:sldId xmlns:r="http://schemas.openxmlformats.org/officeDocument/2006/relationships" id="256" r:id="R818a6c17180c45aa"/>
    <p:sldId xmlns:r="http://schemas.openxmlformats.org/officeDocument/2006/relationships" id="257" r:id="Rfe786035c16348ba"/>
    <p:sldId xmlns:r="http://schemas.openxmlformats.org/officeDocument/2006/relationships" id="258" r:id="Rd9285b40ade24211"/>
    <p:sldId xmlns:r="http://schemas.openxmlformats.org/officeDocument/2006/relationships" id="259" r:id="Rcda1a0776f594eb2"/>
    <p:sldId xmlns:r="http://schemas.openxmlformats.org/officeDocument/2006/relationships" id="260" r:id="Rae4c1adab3254272"/>
    <p:sldId xmlns:r="http://schemas.openxmlformats.org/officeDocument/2006/relationships" id="261" r:id="R7503619195e343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e88ef7a2ff4970" /><Relationship Type="http://schemas.openxmlformats.org/officeDocument/2006/relationships/slideMaster" Target="/ppt/slideMasters/slideMaster1.xml" Id="Rc1f4a6706c174828" /><Relationship Type="http://schemas.openxmlformats.org/officeDocument/2006/relationships/notesMaster" Target="/ppt/notesMasters/notesMaster1.xml" Id="R1a3fb14e18674446" /><Relationship Type="http://schemas.openxmlformats.org/officeDocument/2006/relationships/presProps" Target="/ppt/presProps.xml" Id="R20fc862e2c504ea0" /><Relationship Type="http://schemas.openxmlformats.org/officeDocument/2006/relationships/tableStyles" Target="/ppt/tableStyles.xml" Id="R019c5f339824445d" /><Relationship Type="http://schemas.openxmlformats.org/officeDocument/2006/relationships/slide" Target="/ppt/slides/slide1.xml" Id="R818a6c17180c45aa" /><Relationship Type="http://schemas.openxmlformats.org/officeDocument/2006/relationships/slide" Target="/ppt/slides/slide2.xml" Id="Rfe786035c16348ba" /><Relationship Type="http://schemas.openxmlformats.org/officeDocument/2006/relationships/slide" Target="/ppt/slides/slide3.xml" Id="Rd9285b40ade24211" /><Relationship Type="http://schemas.openxmlformats.org/officeDocument/2006/relationships/slide" Target="/ppt/slides/slide4.xml" Id="Rcda1a0776f594eb2" /><Relationship Type="http://schemas.openxmlformats.org/officeDocument/2006/relationships/slide" Target="/ppt/slides/slide5.xml" Id="Rae4c1adab3254272" /><Relationship Type="http://schemas.openxmlformats.org/officeDocument/2006/relationships/slide" Target="/ppt/slides/slide6.xml" Id="R7503619195e3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84cee00d394a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KSIB Management Review Chinese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4d81dfa24147c7" /><Relationship Type="http://schemas.openxmlformats.org/officeDocument/2006/relationships/notesMaster" Target="/ppt/notesMasters/notesMaster1.xml" Id="R4d63f895d112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8a6c3f93742ad" /><Relationship Type="http://schemas.openxmlformats.org/officeDocument/2006/relationships/notesMaster" Target="/ppt/notesMasters/notesMaster1.xml" Id="Rc60bf0f3da0f4e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b8a6d35f6646cb" /><Relationship Type="http://schemas.openxmlformats.org/officeDocument/2006/relationships/notesMaster" Target="/ppt/notesMasters/notesMaster1.xml" Id="R6eea9833c21d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85e9828b24f5f" /><Relationship Type="http://schemas.openxmlformats.org/officeDocument/2006/relationships/notesMaster" Target="/ppt/notesMasters/notesMaster1.xml" Id="Rf096b098525e46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e99e370c754ea1" /><Relationship Type="http://schemas.openxmlformats.org/officeDocument/2006/relationships/notesMaster" Target="/ppt/notesMasters/notesMaster1.xml" Id="R45f603d4c3c744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0fd2d644f04365" /><Relationship Type="http://schemas.openxmlformats.org/officeDocument/2006/relationships/notesMaster" Target="/ppt/notesMasters/notesMaster1.xml" Id="R6346b9063f5c4e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cf6c7f47b4d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9a4daf4f99496f" /><Relationship Type="http://schemas.openxmlformats.org/officeDocument/2006/relationships/slideLayout" Target="/ppt/slideLayouts/slideLayout1.xml" Id="Rc88101ab264d4f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8101ab264d4f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4df31740a4465" /><Relationship Type="http://schemas.openxmlformats.org/officeDocument/2006/relationships/notesSlide" Target="/ppt/notesSlides/notesSlide1.xml" Id="Rd2459e4c7a754e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e9c67e4d2471f" /><Relationship Type="http://schemas.openxmlformats.org/officeDocument/2006/relationships/chart" Target="/ppt/slides/charts/chart1.xml" Id="R48db1e30fa44415a" /><Relationship Type="http://schemas.openxmlformats.org/officeDocument/2006/relationships/notesSlide" Target="/ppt/notesSlides/notesSlide2.xml" Id="Re7947d78872c47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eb70a62044ec6" /><Relationship Type="http://schemas.openxmlformats.org/officeDocument/2006/relationships/notesSlide" Target="/ppt/notesSlides/notesSlide3.xml" Id="Rbd92c3242af6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9d3e1cad74c78" /><Relationship Type="http://schemas.openxmlformats.org/officeDocument/2006/relationships/notesSlide" Target="/ppt/notesSlides/notesSlide4.xml" Id="R8b349757876949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24b22e12e46a1" /><Relationship Type="http://schemas.openxmlformats.org/officeDocument/2006/relationships/notesSlide" Target="/ppt/notesSlides/notesSlide5.xml" Id="R33c67a90d16740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ea92c2d6c4d7b" /><Relationship Type="http://schemas.openxmlformats.org/officeDocument/2006/relationships/notesSlide" Target="/ppt/notesSlides/notesSlide6.xml" Id="Rcf1056a3501b49a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类别指数</c:v>
          </c:tx>
          <c:spPr>
            <a:solidFill xmlns:a="http://schemas.openxmlformats.org/drawingml/2006/main">
              <a:srgbClr val="D9DCE1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F4906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646A73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646A73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646A73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00" b="1">
                      <a:solidFill>
                        <a:srgbClr val="FF490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0</c:formatCode>
              <c:ptCount val="4"/>
              <c:pt idx="0">
                <c:v>18</c:v>
              </c:pt>
              <c:pt idx="1">
                <c:v>32</c:v>
              </c:pt>
              <c:pt idx="2">
                <c:v>41</c:v>
              </c:pt>
              <c:pt idx="3">
                <c:v>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646A7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6A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-line">
            <a:extLst xmlns:a="http://schemas.openxmlformats.org/drawingml/2006/main">
              <a:ext uri="{FF2B5EF4-FFF2-40B4-BE49-F238E27FC236}">
                <a16:creationId xmlns:a16="http://schemas.microsoft.com/office/drawing/2014/main" id="{9537616C-1C51-48FF-B65A-82806FE5CF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960120"/>
            <a:ext cx="54864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69B8670F-C815-413D-B321-3EACC013D3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85953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latin typeface="PingFang SC"/>
                <a:ea typeface="PingFang SC"/>
                <a:cs typeface="PingFang SC"/>
              </a:rPr>
              <a:t>KSIB FORMAT ENGINEERING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F90C0D-BA30-41CA-B51A-0BC6ECC464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1828800"/>
            <a:ext cx="969264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KSIB / MBB FORMAT</a:t>
            </a:r>
          </a:p>
          <a:p xmlns:a="http://schemas.openxmlformats.org/drawingml/2006/main">
            <a:pPr algn="l">
              <a:buNone/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GOLDEN DECK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0F03CDF-1779-4354-A331-C2C795CC70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3154680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latin typeface="PingFang SC"/>
                <a:ea typeface="PingFang SC"/>
                <a:cs typeface="PingFang SC"/>
              </a:rPr>
              <a:t>咨询型PowerPoint格式与原生可编辑性基准</a:t>
            </a:r>
          </a:p>
        </p:txBody>
      </p:sp>
      <p:sp>
        <p:nvSpPr>
          <p:cNvPr id="5" name="cover-statement">
            <a:extLst xmlns:a="http://schemas.openxmlformats.org/drawingml/2006/main">
              <a:ext uri="{FF2B5EF4-FFF2-40B4-BE49-F238E27FC236}">
                <a16:creationId xmlns:a16="http://schemas.microsoft.com/office/drawing/2014/main" id="{F4947715-12E9-4BD0-80C5-5BDB5635AC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388620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latin typeface="PingFang SC"/>
                <a:ea typeface="PingFang SC"/>
                <a:cs typeface="PingFang SC"/>
              </a:rPr>
              <a:t>固定6页、固定对象、固定样式；仅评估格式与编辑性，不评估内容生成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CAC90235-CA46-45F2-A09F-0E30BD1417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5989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Benchmark v1.0｜2026-07-30</a:t>
            </a:r>
          </a:p>
        </p:txBody>
      </p:sp>
    </p:spTree>
    <p:extLst>
      <p:ext uri="{BB962C8B-B14F-4D97-AF65-F5344CB8AC3E}">
        <p14:creationId xmlns:p14="http://schemas.microsoft.com/office/powerpoint/2010/main" val="1820780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CEFC65CB-E6AE-49FC-85EF-D05A309F84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2DB5B126-E55E-495B-88BA-4203B95EBF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I-1｜原生图表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B0D64A77-C849-4A4E-B9F2-76248274BC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类别D达到57，形成唯一视觉焦点；其余三项保持中性呈现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725858F-3EC7-453D-8982-793758AC7C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基准测试虚构数据｜单系列、4个类别、单位：指数</a:t>
            </a:r>
          </a:p>
        </p:txBody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82070A9-32A6-45E3-B10D-42A548BECF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DD128641-050B-4BB7-ACB7-0B6C898E04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5A5C0E-2100-4741-A977-ED6C330754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23" name="chart-main"/>
          <p:cNvGraphicFramePr/>
          <p:nvPr/>
        </p:nvGraphicFramePr>
        <p:xfrm>
          <a:off xmlns:a="http://schemas.openxmlformats.org/drawingml/2006/main" x="731520" y="1517904"/>
          <a:ext xmlns:a="http://schemas.openxmlformats.org/drawingml/2006/main" cx="7863840" cy="46268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db1e30fa44415a"/>
          </a:graphicData>
        </a:graphic>
      </p:graphicFrame>
      <p:sp>
        <p:nvSpPr>
          <p:cNvPr id="9" name="metric-1">
            <a:extLst xmlns:a="http://schemas.openxmlformats.org/drawingml/2006/main">
              <a:ext uri="{FF2B5EF4-FFF2-40B4-BE49-F238E27FC236}">
                <a16:creationId xmlns:a16="http://schemas.microsoft.com/office/drawing/2014/main" id="{C790C488-FAC0-42E4-9E74-0098C7FCC4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1600200"/>
            <a:ext cx="2542032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57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160B9B3-DE8C-499F-8D17-8E50622B1B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2084832"/>
            <a:ext cx="254203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最高值｜类别D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87C2CCBF-4E69-46C3-9531-4FD4651D60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2788920"/>
            <a:ext cx="2542032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+39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6C9243BA-D7A9-493D-933A-084E46D0C7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3273552"/>
            <a:ext cx="254203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较类别A的差值</a:t>
            </a:r>
          </a:p>
        </p:txBody>
      </p:sp>
      <p:sp>
        <p:nvSpPr>
          <p:cNvPr id="13" name="chart-reading-note">
            <a:extLst xmlns:a="http://schemas.openxmlformats.org/drawingml/2006/main">
              <a:ext uri="{FF2B5EF4-FFF2-40B4-BE49-F238E27FC236}">
                <a16:creationId xmlns:a16="http://schemas.microsoft.com/office/drawing/2014/main" id="{C61CC0EA-FD6B-42B8-A8A0-5C9581C387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4160520"/>
            <a:ext cx="2542032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强调色只服务于唯一主证据；其余类别使用中性色，避免制造多个视觉中心。</a:t>
            </a:r>
          </a:p>
        </p:txBody>
      </p:sp>
    </p:spTree>
    <p:extLst>
      <p:ext uri="{BB962C8B-B14F-4D97-AF65-F5344CB8AC3E}">
        <p14:creationId xmlns:p14="http://schemas.microsoft.com/office/powerpoint/2010/main" val="1255341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2FD617DE-15D9-4997-A913-2CEBDD507F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DC4F4948-A0D6-41D8-BC29-CB7A481D47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I-2｜原生表格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2E2588F7-8B84-4FC9-B551-A9B849EB79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原生表格应在高信息密度下保留单元格级格式控制</a:t>
            </a:r>
          </a:p>
        </p:txBody>
      </p:sp>
      <p:sp>
        <p:nvSpPr>
          <p:cNvPr id="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B03C171-C1C2-4168-A2E4-7244E29C44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C52227B7-0489-4DC0-8BDA-F1F7D72DB9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D92FC6-ED50-440D-B23C-D1D865E457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3</a:t>
            </a:r>
          </a:p>
        </p:txBody>
      </p:sp>
      <p:graphicFrame>
        <p:nvGraphicFramePr>
          <p:cNvPr id="19" name="table-main"/>
          <p:cNvGraphicFramePr/>
          <p:nvPr/>
        </p:nvGraphicFramePr>
        <p:xfrm>
          <a:off xmlns:a="http://schemas.openxmlformats.org/drawingml/2006/main" x="731520" y="1417320"/>
          <a:ext xmlns:a="http://schemas.openxmlformats.org/drawingml/2006/main" cx="7818120" cy="44348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0160"/>
                <a:gridCol w="1051560"/>
                <a:gridCol w="1051560"/>
                <a:gridCol w="1051560"/>
                <a:gridCol w="3383280"/>
              </a:tblGrid>
              <a:tr h="7391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模块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基期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当期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112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+12%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稳定上升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+4%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小幅增长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97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-3%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轻微回落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126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+26%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增长最快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439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+9.8%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基准汇总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-total-rule">
            <a:extLst xmlns:a="http://schemas.openxmlformats.org/drawingml/2006/main">
              <a:ext uri="{FF2B5EF4-FFF2-40B4-BE49-F238E27FC236}">
                <a16:creationId xmlns:a16="http://schemas.microsoft.com/office/drawing/2014/main" id="{4CB4F3D9-FF14-48C6-BEAC-8B37E9043F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113020"/>
            <a:ext cx="7818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4906"/>
            </a:solidFill>
            <a:prstDash val="solid"/>
          </a:ln>
        </p:spPr>
      </p:sp>
      <p:sp>
        <p:nvSpPr>
          <p:cNvPr id="9" name="insight-panel-accent">
            <a:extLst xmlns:a="http://schemas.openxmlformats.org/drawingml/2006/main">
              <a:ext uri="{FF2B5EF4-FFF2-40B4-BE49-F238E27FC236}">
                <a16:creationId xmlns:a16="http://schemas.microsoft.com/office/drawing/2014/main" id="{77BE4642-FDDB-4B7F-8A4C-DCEC7057D8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69680" y="1417320"/>
            <a:ext cx="36576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sight-panel">
            <a:extLst xmlns:a="http://schemas.openxmlformats.org/drawingml/2006/main">
              <a:ext uri="{FF2B5EF4-FFF2-40B4-BE49-F238E27FC236}">
                <a16:creationId xmlns:a16="http://schemas.microsoft.com/office/drawing/2014/main" id="{DE1F2060-87F0-464B-967C-530BC4734D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89136" y="1417320"/>
            <a:ext cx="2368296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格式验证重点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改单元格填充</a:t>
            </a:r>
            <a:r>
              <a:rPr sz="1400" b="0">
                <a:latin typeface="PingFang SC"/>
                <a:ea typeface="PingFang SC"/>
                <a:cs typeface="PingFang SC"/>
              </a:rPr>
              <a:t>｜验证局部样式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改字体颜色</a:t>
            </a:r>
            <a:r>
              <a:rPr sz="1400" b="0">
                <a:latin typeface="PingFang SC"/>
                <a:ea typeface="PingFang SC"/>
                <a:cs typeface="PingFang SC"/>
              </a:rPr>
              <a:t>｜验证文字控制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取消加粗</a:t>
            </a:r>
            <a:r>
              <a:rPr sz="1400" b="0">
                <a:latin typeface="PingFang SC"/>
                <a:ea typeface="PingFang SC"/>
                <a:cs typeface="PingFang SC"/>
              </a:rPr>
              <a:t>｜验证按钮语义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复制粘贴</a:t>
            </a:r>
            <a:r>
              <a:rPr sz="1400" b="0">
                <a:latin typeface="PingFang SC"/>
                <a:ea typeface="PingFang SC"/>
                <a:cs typeface="PingFang SC"/>
              </a:rPr>
              <a:t>｜仍为原生表格</a:t>
            </a:r>
          </a:p>
        </p:txBody>
      </p:sp>
    </p:spTree>
    <p:extLst>
      <p:ext uri="{BB962C8B-B14F-4D97-AF65-F5344CB8AC3E}">
        <p14:creationId xmlns:p14="http://schemas.microsoft.com/office/powerpoint/2010/main" val="88322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7F9809A-C3D8-477F-85C8-D4E1712CB7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96F0C71A-A7BE-464C-8078-1A971D46C9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I-3｜左右比较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019A34C7-AE77-40F7-9BBE-3EE69A69D1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左右比较依靠统一基线、等宽列和局部强调建立清晰取舍</a:t>
            </a:r>
          </a:p>
        </p:txBody>
      </p:sp>
      <p:sp>
        <p:nvSpPr>
          <p:cNvPr id="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9767F88-E960-4D3D-861A-890F153043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FCDD2CC6-4120-4984-A805-650549E05D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基准测试虚构内容；仅用于格式与编辑性测试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BC0FE6-158C-4745-BA00-DCEB7582BB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7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09DDA7DD-C283-4474-9D74-B7E95D164E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4476" y="1463040"/>
            <a:ext cx="9144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lumn-left">
            <a:extLst xmlns:a="http://schemas.openxmlformats.org/drawingml/2006/main">
              <a:ext uri="{FF2B5EF4-FFF2-40B4-BE49-F238E27FC236}">
                <a16:creationId xmlns:a16="http://schemas.microsoft.com/office/drawing/2014/main" id="{35225C95-C2CC-4E3D-8B1F-9528126CC5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463040"/>
            <a:ext cx="5202936" cy="448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64592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方案A｜稳态优化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已有流程可复用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缩短交付链路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</a:t>
            </a:r>
            <a:r>
              <a:rPr sz="1400" b="1">
                <a:latin typeface="PingFang SC"/>
                <a:ea typeface="PingFang SC"/>
                <a:cs typeface="PingFang SC"/>
              </a:rPr>
              <a:t>2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局部改善有限</a:t>
            </a:r>
          </a:p>
        </p:txBody>
      </p:sp>
      <p:sp>
        <p:nvSpPr>
          <p:cNvPr id="9" name="column-right">
            <a:extLst xmlns:a="http://schemas.openxmlformats.org/drawingml/2006/main">
              <a:ext uri="{FF2B5EF4-FFF2-40B4-BE49-F238E27FC236}">
                <a16:creationId xmlns:a16="http://schemas.microsoft.com/office/drawing/2014/main" id="{DB51EBBF-435E-4C0C-9E30-FD85563C8D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54496" y="1463040"/>
            <a:ext cx="5202936" cy="448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64592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方案B｜结构升级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需重构关键接口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建立统一模板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</a:t>
            </a:r>
            <a:r>
              <a:rPr sz="1400" b="1">
                <a:latin typeface="PingFang SC"/>
                <a:ea typeface="PingFang SC"/>
                <a:cs typeface="PingFang SC"/>
              </a:rPr>
              <a:t>3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迁移期成本较高</a:t>
            </a:r>
          </a:p>
        </p:txBody>
      </p:sp>
    </p:spTree>
    <p:extLst>
      <p:ext uri="{BB962C8B-B14F-4D97-AF65-F5344CB8AC3E}">
        <p14:creationId xmlns:p14="http://schemas.microsoft.com/office/powerpoint/2010/main" val="838729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1C818079-F98B-4029-AB83-C7FA88E413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312EE1AD-E78B-4196-B5B6-D994DAE9EC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I-4｜流程与连接器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658C28BF-78AF-4649-A110-3B40BE263B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四个原生节点串联端到端流程，复核反馈闭环返回输入端</a:t>
            </a:r>
          </a:p>
        </p:txBody>
      </p:sp>
      <p:sp>
        <p:nvSpPr>
          <p:cNvPr id="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BF7C8F3-AABA-4D37-A352-A70AC91209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F8DB320A-543B-4071-81FF-FBB9F28444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D07F49-E867-47E4-BC7C-093380B4A2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7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9136B2D2-45C7-46B9-817E-11B2077750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接收输入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读取固定内容与约束</a:t>
            </a:r>
          </a:p>
        </p:txBody>
      </p:sp>
      <p:sp>
        <p:nvSpPr>
          <p:cNvPr id="8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AD87D25A-1093-4D7F-8101-02238280DF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48786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选择版式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匹配结构合同与容量</a:t>
            </a:r>
          </a:p>
        </p:txBody>
      </p:sp>
      <p:sp>
        <p:nvSpPr>
          <p:cNvPr id="9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722ECC52-4AE4-475D-B6CE-F4A2DE175F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66053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FFDBCD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生成页面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写入原生文本
图表与表格</a:t>
            </a:r>
          </a:p>
        </p:txBody>
      </p:sp>
      <p:sp>
        <p:nvSpPr>
          <p:cNvPr id="10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AB590C4C-96DE-4208-A4B5-D727F6FA15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83319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校验交付</a:t>
            </a:r>
          </a:p>
          <a:p xmlns:a="http://schemas.openxmlformats.org/drawingml/2006/main">
            <a:pPr algn="l"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运行结构、视觉
与交互检查</a:t>
            </a:r>
          </a:p>
        </p:txBody>
      </p:sp>
      <p:cxnSp>
        <p:nvCxnSpPr>
          <p:cNvPr id="40" name="connector-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8376" y="3040380"/>
            <a:ext cx="54041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41" name="connector-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25642" y="3040380"/>
            <a:ext cx="54041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42" name="connector-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42909" y="3040380"/>
            <a:ext cx="54041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43" name="feedback-connector"/>
          <p:cNvCxnSpPr>
            <a:stCxn xmlns:a="http://schemas.openxmlformats.org/drawingml/2006/main" id="10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1869948" y="4114800"/>
            <a:ext cx="8451799" cy="228600"/>
          </a:xfrm>
          <a:prstGeom xmlns:a="http://schemas.openxmlformats.org/drawingml/2006/main" prst="bentConnector5">
            <a:avLst/>
          </a:prstGeom>
          <a:ln xmlns:a="http://schemas.openxmlformats.org/drawingml/2006/main" w="19050">
            <a:solidFill>
              <a:srgbClr val="646A73"/>
            </a:solidFill>
            <a:prstDash val="dash"/>
            <a:tailEnd type="arrow" w="med" len="med"/>
          </a:ln>
        </p:spPr>
      </p:cxnSp>
      <p:sp>
        <p:nvSpPr>
          <p:cNvPr id="15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50C2F877-9BC7-4AC3-BB48-FFF540E5CA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66360" y="5074920"/>
            <a:ext cx="185623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复核反馈</a:t>
            </a:r>
          </a:p>
        </p:txBody>
      </p:sp>
    </p:spTree>
    <p:extLst>
      <p:ext uri="{BB962C8B-B14F-4D97-AF65-F5344CB8AC3E}">
        <p14:creationId xmlns:p14="http://schemas.microsoft.com/office/powerpoint/2010/main" val="202375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7E1E98BA-6E29-406D-8622-584A902DAB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E8C39187-7492-48E5-AC52-4E40FB3D7F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附录 A-1｜高密度页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88B1A4B1-AD92-4A19-9470-D2DBCB035D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高密度附录可以使用10pt正文，但不能牺牲可读性和编辑性</a:t>
            </a:r>
          </a:p>
        </p:txBody>
      </p:sp>
      <p:sp>
        <p:nvSpPr>
          <p:cNvPr id="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4622703-CA3A-4A6D-997F-459942E4F9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5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FE313E9C-4396-4A6A-A951-0E40BE07C6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16E5DC-CABD-4FAF-8619-A3DA326C0E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7" name="appendix-note">
            <a:extLst xmlns:a="http://schemas.openxmlformats.org/drawingml/2006/main">
              <a:ext uri="{FF2B5EF4-FFF2-40B4-BE49-F238E27FC236}">
                <a16:creationId xmlns:a16="http://schemas.microsoft.com/office/drawing/2014/main" id="{A35D4560-CD0D-489F-A4B7-27911EAA21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89888"/>
            <a:ext cx="10728655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基准对象清单｜仅用于对象类型与交互动作检查</a:t>
            </a:r>
          </a:p>
        </p:txBody>
      </p:sp>
      <p:graphicFrame>
        <p:nvGraphicFramePr>
          <p:cNvPr id="18" name="appendix-table"/>
          <p:cNvGraphicFramePr/>
          <p:nvPr/>
        </p:nvGraphicFramePr>
        <p:xfrm>
          <a:off xmlns:a="http://schemas.openxmlformats.org/drawingml/2006/main" x="731520" y="1737360"/>
          <a:ext xmlns:a="http://schemas.openxmlformats.org/drawingml/2006/main" cx="10728655" cy="44805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4360"/>
                <a:gridCol w="1783080"/>
                <a:gridCol w="1188720"/>
                <a:gridCol w="822960"/>
                <a:gridCol w="1554480"/>
                <a:gridCol w="2377440"/>
                <a:gridCol w="2407615"/>
              </a:tblGrid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原生类型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字号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颜色/样式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交互动作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通过标准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cover-title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无填充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改字与撤销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文本直接编辑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chart-main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原生图表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灰＋橙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改数据与撤销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图表更新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table-main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原生表格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白底＋细规则线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改单元格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格式保持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column-left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混合加粗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改色及取消加粗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局部可控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connector-1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灰色实线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移动节点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连线吸附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feedback-connector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灰色虚线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改端点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箭头保持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page-number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页码文本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调整页序后复核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位置与格式稳定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561926"/>
      </p:ext>
    </p:extLst>
  </p:cSld>
</p:sld>
</file>

<file path=ppt/theme/theme1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KSIB Management Review Chinese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6</ap:Slides>
  <ap:Notes>6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2026-08-03T08:01:13.0440000Z</dcterms:created>
  <dcterms:modified xsi:type="dcterms:W3CDTF">2026-08-03T08:01:13.0450000Z</dcterms:modified>
</coreProperties>
</file>