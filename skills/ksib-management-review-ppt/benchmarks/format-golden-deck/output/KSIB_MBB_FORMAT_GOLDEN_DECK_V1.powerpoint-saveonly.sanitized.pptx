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类别指数</c:v>
          </c:tx>
          <c:spPr>
            <a:solidFill>
              <a:srgbClr val="D9DCE1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FF4906"/>
              </a:solidFill>
            </c:spPr>
            <c:extLst>
              <c:ext xmlns:c16="http://schemas.microsoft.com/office/drawing/2014/chart" uri="{C3380CC4-5D6E-409C-BE32-E72D297353CC}">
                <c16:uniqueId val="{00000001-A4CD-D94E-A990-F3AC8FDC514B}"/>
              </c:ext>
            </c:extLst>
          </c:dPt>
          <c:dLbls>
            <c:dLbl>
              <c:idx val="0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CD-D94E-A990-F3AC8FDC514B}"/>
                </c:ext>
              </c:extLst>
            </c:dLbl>
            <c:dLbl>
              <c:idx val="1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CD-D94E-A990-F3AC8FDC514B}"/>
                </c:ext>
              </c:extLst>
            </c:dLbl>
            <c:dLbl>
              <c:idx val="2"/>
              <c:spPr/>
              <c:txPr>
                <a:bodyPr anchorCtr="1"/>
                <a:lstStyle/>
                <a:p>
                  <a:pPr>
                    <a:defRPr sz="1200" b="1">
                      <a:solidFill>
                        <a:srgbClr val="646A73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CD-D94E-A990-F3AC8FDC514B}"/>
                </c:ext>
              </c:extLst>
            </c:dLbl>
            <c:dLbl>
              <c:idx val="3"/>
              <c:spPr/>
              <c:txPr>
                <a:bodyPr anchorCtr="1"/>
                <a:lstStyle/>
                <a:p>
                  <a:pPr>
                    <a:defRPr sz="1400" b="1">
                      <a:solidFill>
                        <a:srgbClr val="FF4906"/>
                      </a:solidFill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CD-D94E-A990-F3AC8FDC51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0</c:formatCode>
              <c:ptCount val="4"/>
              <c:pt idx="0">
                <c:v>18</c:v>
              </c:pt>
              <c:pt idx="1">
                <c:v>32</c:v>
              </c:pt>
              <c:pt idx="2">
                <c:v>41</c:v>
              </c:pt>
              <c:pt idx="3">
                <c:v>57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A4CD-D94E-A990-F3AC8FDC51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46A73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accent-line">
            <a:extLst>
              <a:ext uri="{FF2B5EF4-FFF2-40B4-BE49-F238E27FC236}">
                <a16:creationId xmlns:a16="http://schemas.microsoft.com/office/drawing/2014/main" id="{E2302993-6FB2-4AFA-B5AE-DE64EB08A045}"/>
              </a:ext>
            </a:extLst>
          </p:cNvPr>
          <p:cNvSpPr>
            <a:spLocks/>
          </p:cNvSpPr>
          <p:nvPr/>
        </p:nvSpPr>
        <p:spPr>
          <a:xfrm>
            <a:off x="731520" y="960120"/>
            <a:ext cx="54864" cy="160020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cover-wordmark">
            <a:extLst>
              <a:ext uri="{FF2B5EF4-FFF2-40B4-BE49-F238E27FC236}">
                <a16:creationId xmlns:a16="http://schemas.microsoft.com/office/drawing/2014/main" id="{BADC4CB5-20C0-48AE-BF7A-7BFE94828B36}"/>
              </a:ext>
            </a:extLst>
          </p:cNvPr>
          <p:cNvSpPr>
            <a:spLocks/>
          </p:cNvSpPr>
          <p:nvPr/>
        </p:nvSpPr>
        <p:spPr>
          <a:xfrm>
            <a:off x="896112" y="859536"/>
            <a:ext cx="2743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latin typeface="PingFang SC"/>
                <a:ea typeface="PingFang SC"/>
                <a:cs typeface="PingFang SC"/>
              </a:rPr>
              <a:t>KSIB FORMAT ENGINEERING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827A279F-30F1-4E26-9E6A-FD62DA4F6678}"/>
              </a:ext>
            </a:extLst>
          </p:cNvPr>
          <p:cNvSpPr>
            <a:spLocks/>
          </p:cNvSpPr>
          <p:nvPr/>
        </p:nvSpPr>
        <p:spPr>
          <a:xfrm>
            <a:off x="896112" y="1828800"/>
            <a:ext cx="9692640" cy="1051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KSIB / MBB FORMAT</a:t>
            </a:r>
          </a:p>
          <a:p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GOLDEN DECK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4787FBDA-A501-4A7F-BE15-11FFE285CC28}"/>
              </a:ext>
            </a:extLst>
          </p:cNvPr>
          <p:cNvSpPr>
            <a:spLocks/>
          </p:cNvSpPr>
          <p:nvPr/>
        </p:nvSpPr>
        <p:spPr>
          <a:xfrm>
            <a:off x="896112" y="3154680"/>
            <a:ext cx="96012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latin typeface="PingFang SC"/>
                <a:ea typeface="PingFang SC"/>
                <a:cs typeface="PingFang SC"/>
              </a:rPr>
              <a:t>咨询型PowerPoint格式与原生可编辑性基准</a:t>
            </a:r>
          </a:p>
        </p:txBody>
      </p:sp>
      <p:sp>
        <p:nvSpPr>
          <p:cNvPr id="5" name="cover-statement">
            <a:extLst>
              <a:ext uri="{FF2B5EF4-FFF2-40B4-BE49-F238E27FC236}">
                <a16:creationId xmlns:a16="http://schemas.microsoft.com/office/drawing/2014/main" id="{979EE6BE-B216-4E51-8A57-E24B3FF97864}"/>
              </a:ext>
            </a:extLst>
          </p:cNvPr>
          <p:cNvSpPr>
            <a:spLocks/>
          </p:cNvSpPr>
          <p:nvPr/>
        </p:nvSpPr>
        <p:spPr>
          <a:xfrm>
            <a:off x="896112" y="3886200"/>
            <a:ext cx="9601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latin typeface="PingFang SC"/>
                <a:ea typeface="PingFang SC"/>
                <a:cs typeface="PingFang SC"/>
              </a:rPr>
              <a:t>固定6页、固定对象、固定样式；仅评估格式与编辑性，不评估内容生成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B1F59973-2B8E-4481-AB1B-F87ADCB87AB9}"/>
              </a:ext>
            </a:extLst>
          </p:cNvPr>
          <p:cNvSpPr>
            <a:spLocks/>
          </p:cNvSpPr>
          <p:nvPr/>
        </p:nvSpPr>
        <p:spPr>
          <a:xfrm>
            <a:off x="896112" y="5989320"/>
            <a:ext cx="4572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Benchmark v1.0｜2026-07-30</a:t>
            </a:r>
          </a:p>
        </p:txBody>
      </p:sp>
    </p:spTree>
    <p:extLst>
      <p:ext uri="{BB962C8B-B14F-4D97-AF65-F5344CB8AC3E}">
        <p14:creationId xmlns:p14="http://schemas.microsoft.com/office/powerpoint/2010/main" val="192483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eader-accent">
            <a:extLst>
              <a:ext uri="{FF2B5EF4-FFF2-40B4-BE49-F238E27FC236}">
                <a16:creationId xmlns:a16="http://schemas.microsoft.com/office/drawing/2014/main" id="{933901D9-5714-4F26-840C-782B60E08FCB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C575C40B-2784-433B-AD96-D37064785236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I-1｜原生图表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A25C05A5-5D98-47DB-8679-23976951B76C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类别D达到57，形成唯一视觉焦点；其余三项保持中性呈现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E4289D-FD47-45DB-8081-F3935F9FBECC}"/>
              </a:ext>
            </a:extLst>
          </p:cNvPr>
          <p:cNvSpPr>
            <a:spLocks/>
          </p:cNvSpPr>
          <p:nvPr/>
        </p:nvSpPr>
        <p:spPr>
          <a:xfrm>
            <a:off x="731520" y="905256"/>
            <a:ext cx="10728655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基准测试虚构数据｜单系列、4个类别、单位：指数</a:t>
            </a:r>
          </a:p>
        </p:txBody>
      </p:sp>
      <p:sp>
        <p:nvSpPr>
          <p:cNvPr id="5" name="title-divider">
            <a:extLst>
              <a:ext uri="{FF2B5EF4-FFF2-40B4-BE49-F238E27FC236}">
                <a16:creationId xmlns:a16="http://schemas.microsoft.com/office/drawing/2014/main" id="{EF7F3FE9-CA23-43BF-9540-9F0FD3DF05B1}"/>
              </a:ext>
            </a:extLst>
          </p:cNvPr>
          <p:cNvSpPr>
            <a:spLocks/>
          </p:cNvSpPr>
          <p:nvPr/>
        </p:nvSpPr>
        <p:spPr>
          <a:xfrm>
            <a:off x="731520" y="118872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6" name="source-footnote">
            <a:extLst>
              <a:ext uri="{FF2B5EF4-FFF2-40B4-BE49-F238E27FC236}">
                <a16:creationId xmlns:a16="http://schemas.microsoft.com/office/drawing/2014/main" id="{C9658343-2B97-4F59-A97C-B410862C072D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3289491-1906-43F3-B414-731B0109B4A9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21" name="chart-main"/>
          <p:cNvGraphicFramePr/>
          <p:nvPr/>
        </p:nvGraphicFramePr>
        <p:xfrm>
          <a:off x="731520" y="1389888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metric-1">
            <a:extLst>
              <a:ext uri="{FF2B5EF4-FFF2-40B4-BE49-F238E27FC236}">
                <a16:creationId xmlns:a16="http://schemas.microsoft.com/office/drawing/2014/main" id="{5C63C0C2-9ED7-4A8D-AF3E-2CC5441BF4FF}"/>
              </a:ext>
            </a:extLst>
          </p:cNvPr>
          <p:cNvSpPr>
            <a:spLocks/>
          </p:cNvSpPr>
          <p:nvPr/>
        </p:nvSpPr>
        <p:spPr>
          <a:xfrm>
            <a:off x="8915400" y="1600200"/>
            <a:ext cx="2542032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57</a:t>
            </a:r>
          </a:p>
        </p:txBody>
      </p:sp>
      <p:sp>
        <p:nvSpPr>
          <p:cNvPr id="10" name="metric-label-1">
            <a:extLst>
              <a:ext uri="{FF2B5EF4-FFF2-40B4-BE49-F238E27FC236}">
                <a16:creationId xmlns:a16="http://schemas.microsoft.com/office/drawing/2014/main" id="{A09F6FE2-D38E-4534-BDED-5F7789400B8B}"/>
              </a:ext>
            </a:extLst>
          </p:cNvPr>
          <p:cNvSpPr>
            <a:spLocks/>
          </p:cNvSpPr>
          <p:nvPr/>
        </p:nvSpPr>
        <p:spPr>
          <a:xfrm>
            <a:off x="8915400" y="2084832"/>
            <a:ext cx="2542032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最高值｜类别D</a:t>
            </a:r>
          </a:p>
        </p:txBody>
      </p:sp>
      <p:sp>
        <p:nvSpPr>
          <p:cNvPr id="11" name="metric-2">
            <a:extLst>
              <a:ext uri="{FF2B5EF4-FFF2-40B4-BE49-F238E27FC236}">
                <a16:creationId xmlns:a16="http://schemas.microsoft.com/office/drawing/2014/main" id="{51EAF59C-5172-4330-9793-359B66E9F142}"/>
              </a:ext>
            </a:extLst>
          </p:cNvPr>
          <p:cNvSpPr>
            <a:spLocks/>
          </p:cNvSpPr>
          <p:nvPr/>
        </p:nvSpPr>
        <p:spPr>
          <a:xfrm>
            <a:off x="8915400" y="2788920"/>
            <a:ext cx="2542032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+39</a:t>
            </a:r>
          </a:p>
        </p:txBody>
      </p:sp>
      <p:sp>
        <p:nvSpPr>
          <p:cNvPr id="12" name="metric-label-2">
            <a:extLst>
              <a:ext uri="{FF2B5EF4-FFF2-40B4-BE49-F238E27FC236}">
                <a16:creationId xmlns:a16="http://schemas.microsoft.com/office/drawing/2014/main" id="{DAC94B68-678E-445D-BE28-933B44901CD0}"/>
              </a:ext>
            </a:extLst>
          </p:cNvPr>
          <p:cNvSpPr>
            <a:spLocks/>
          </p:cNvSpPr>
          <p:nvPr/>
        </p:nvSpPr>
        <p:spPr>
          <a:xfrm>
            <a:off x="8915400" y="3273552"/>
            <a:ext cx="2542032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较类别A的差值</a:t>
            </a:r>
          </a:p>
        </p:txBody>
      </p:sp>
      <p:sp>
        <p:nvSpPr>
          <p:cNvPr id="13" name="chart-reading-note">
            <a:extLst>
              <a:ext uri="{FF2B5EF4-FFF2-40B4-BE49-F238E27FC236}">
                <a16:creationId xmlns:a16="http://schemas.microsoft.com/office/drawing/2014/main" id="{7B88DB96-DDE1-4024-BE72-CFC803756DAA}"/>
              </a:ext>
            </a:extLst>
          </p:cNvPr>
          <p:cNvSpPr>
            <a:spLocks/>
          </p:cNvSpPr>
          <p:nvPr/>
        </p:nvSpPr>
        <p:spPr>
          <a:xfrm>
            <a:off x="8915400" y="4160520"/>
            <a:ext cx="2542032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强调色只服务于唯一主证据；其余类别使用中性色，避免制造多个视觉中心。</a:t>
            </a:r>
          </a:p>
        </p:txBody>
      </p:sp>
    </p:spTree>
    <p:extLst>
      <p:ext uri="{BB962C8B-B14F-4D97-AF65-F5344CB8AC3E}">
        <p14:creationId xmlns:p14="http://schemas.microsoft.com/office/powerpoint/2010/main" val="34996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-accent">
            <a:extLst>
              <a:ext uri="{FF2B5EF4-FFF2-40B4-BE49-F238E27FC236}">
                <a16:creationId xmlns:a16="http://schemas.microsoft.com/office/drawing/2014/main" id="{0F5925C4-34BF-4758-BBAF-857A61E9C73A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FED72D5E-3265-4016-85FB-F1DFA9CA6C89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I-2｜原生表格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EFE5E690-09EF-4DDE-9406-DEF45F657E8C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原生表格应在高信息密度下保留单元格级格式控制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C79E5508-52CD-438B-B926-8B0CF850E843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F60C776E-696A-4D64-8F98-1F240199F29C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46FEDF89-5A38-4F49-8AF7-476D55015425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17" name="table-main"/>
          <p:cNvGraphicFramePr/>
          <p:nvPr/>
        </p:nvGraphicFramePr>
        <p:xfrm>
          <a:off x="731520" y="1417320"/>
          <a:ext cx="7818120" cy="4434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基期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当期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+12%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稳定上升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+4%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小幅增长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-3%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轻微回落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126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+26%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增长最快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439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+9.8%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基准汇总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able-total-rule">
            <a:extLst>
              <a:ext uri="{FF2B5EF4-FFF2-40B4-BE49-F238E27FC236}">
                <a16:creationId xmlns:a16="http://schemas.microsoft.com/office/drawing/2014/main" id="{D97F7163-398B-4558-A007-923F32286E03}"/>
              </a:ext>
            </a:extLst>
          </p:cNvPr>
          <p:cNvSpPr>
            <a:spLocks/>
          </p:cNvSpPr>
          <p:nvPr/>
        </p:nvSpPr>
        <p:spPr>
          <a:xfrm>
            <a:off x="731520" y="5113020"/>
            <a:ext cx="7818120" cy="0"/>
          </a:xfrm>
          <a:prstGeom prst="line">
            <a:avLst/>
          </a:prstGeom>
          <a:noFill/>
          <a:ln w="14288">
            <a:solidFill>
              <a:srgbClr val="FF4906"/>
            </a:solidFill>
            <a:prstDash val="solid"/>
          </a:ln>
        </p:spPr>
      </p:sp>
      <p:sp>
        <p:nvSpPr>
          <p:cNvPr id="9" name="insight-panel-accent">
            <a:extLst>
              <a:ext uri="{FF2B5EF4-FFF2-40B4-BE49-F238E27FC236}">
                <a16:creationId xmlns:a16="http://schemas.microsoft.com/office/drawing/2014/main" id="{BF6E172E-93AC-4C8E-9C95-D89C6A67F168}"/>
              </a:ext>
            </a:extLst>
          </p:cNvPr>
          <p:cNvSpPr>
            <a:spLocks/>
          </p:cNvSpPr>
          <p:nvPr/>
        </p:nvSpPr>
        <p:spPr>
          <a:xfrm>
            <a:off x="8869680" y="1417320"/>
            <a:ext cx="36576" cy="26974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10" name="insight-panel">
            <a:extLst>
              <a:ext uri="{FF2B5EF4-FFF2-40B4-BE49-F238E27FC236}">
                <a16:creationId xmlns:a16="http://schemas.microsoft.com/office/drawing/2014/main" id="{BD825501-F959-442F-946E-4D8710601E61}"/>
              </a:ext>
            </a:extLst>
          </p:cNvPr>
          <p:cNvSpPr>
            <a:spLocks/>
          </p:cNvSpPr>
          <p:nvPr/>
        </p:nvSpPr>
        <p:spPr>
          <a:xfrm>
            <a:off x="9089136" y="1417320"/>
            <a:ext cx="2368296" cy="3108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格式验证重点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改单元格填充</a:t>
            </a:r>
            <a:r>
              <a:rPr sz="1400" b="0">
                <a:latin typeface="PingFang SC"/>
                <a:ea typeface="PingFang SC"/>
                <a:cs typeface="PingFang SC"/>
              </a:rPr>
              <a:t>｜验证局部样式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改字体颜色</a:t>
            </a:r>
            <a:r>
              <a:rPr sz="1400" b="0">
                <a:latin typeface="PingFang SC"/>
                <a:ea typeface="PingFang SC"/>
                <a:cs typeface="PingFang SC"/>
              </a:rPr>
              <a:t>｜验证文字控制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取消加粗</a:t>
            </a:r>
            <a:r>
              <a:rPr sz="1400" b="0">
                <a:latin typeface="PingFang SC"/>
                <a:ea typeface="PingFang SC"/>
                <a:cs typeface="PingFang SC"/>
              </a:rPr>
              <a:t>｜验证按钮语义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复制粘贴</a:t>
            </a:r>
            <a:r>
              <a:rPr sz="1400" b="0">
                <a:latin typeface="PingFang SC"/>
                <a:ea typeface="PingFang SC"/>
                <a:cs typeface="PingFang SC"/>
              </a:rPr>
              <a:t>｜仍为原生表格</a:t>
            </a:r>
          </a:p>
        </p:txBody>
      </p:sp>
    </p:spTree>
    <p:extLst>
      <p:ext uri="{BB962C8B-B14F-4D97-AF65-F5344CB8AC3E}">
        <p14:creationId xmlns:p14="http://schemas.microsoft.com/office/powerpoint/2010/main" val="49196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-accent">
            <a:extLst>
              <a:ext uri="{FF2B5EF4-FFF2-40B4-BE49-F238E27FC236}">
                <a16:creationId xmlns:a16="http://schemas.microsoft.com/office/drawing/2014/main" id="{3F9CCC5A-B06C-4B55-BDE8-972BA6639255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EAC208E0-F824-4D8F-A221-8FE1E59F2AC3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I-3｜左右比较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C29F7879-B5CF-46C0-B4C7-B26379D222CD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左右比较依靠统一基线、等宽列和局部强调建立清晰取舍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E0910EB0-47E1-49DF-A4BE-0F50C118404E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507F307D-1CBD-42FB-9C19-D97ADE88740F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基准测试虚构内容；仅用于格式与编辑性测试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BFAAEA2B-0866-4103-9428-E1DC282EBCDD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7" name="column-divider">
            <a:extLst>
              <a:ext uri="{FF2B5EF4-FFF2-40B4-BE49-F238E27FC236}">
                <a16:creationId xmlns:a16="http://schemas.microsoft.com/office/drawing/2014/main" id="{AC3FE6CA-FCF9-4FCA-8A74-1C0BBC0E591D}"/>
              </a:ext>
            </a:extLst>
          </p:cNvPr>
          <p:cNvSpPr>
            <a:spLocks/>
          </p:cNvSpPr>
          <p:nvPr/>
        </p:nvSpPr>
        <p:spPr>
          <a:xfrm>
            <a:off x="6094476" y="1225296"/>
            <a:ext cx="9144" cy="471830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8" name="column-left">
            <a:extLst>
              <a:ext uri="{FF2B5EF4-FFF2-40B4-BE49-F238E27FC236}">
                <a16:creationId xmlns:a16="http://schemas.microsoft.com/office/drawing/2014/main" id="{D44070E3-4DD5-46B5-9F6E-3332F3749B91}"/>
              </a:ext>
            </a:extLst>
          </p:cNvPr>
          <p:cNvSpPr>
            <a:spLocks/>
          </p:cNvSpPr>
          <p:nvPr/>
        </p:nvSpPr>
        <p:spPr>
          <a:xfrm>
            <a:off x="731520" y="1225296"/>
            <a:ext cx="5202936" cy="4718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64592" bIns="0" anchor="t">
            <a:noAutofit/>
          </a:bodyPr>
          <a:lstStyle/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方案A｜稳态优化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已有流程可复用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缩短交付链路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资源需求｜2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局部改善有限</a:t>
            </a:r>
          </a:p>
        </p:txBody>
      </p:sp>
      <p:sp>
        <p:nvSpPr>
          <p:cNvPr id="9" name="column-right">
            <a:extLst>
              <a:ext uri="{FF2B5EF4-FFF2-40B4-BE49-F238E27FC236}">
                <a16:creationId xmlns:a16="http://schemas.microsoft.com/office/drawing/2014/main" id="{16DE041E-AB21-44C2-82AC-116CCFB61478}"/>
              </a:ext>
            </a:extLst>
          </p:cNvPr>
          <p:cNvSpPr>
            <a:spLocks/>
          </p:cNvSpPr>
          <p:nvPr/>
        </p:nvSpPr>
        <p:spPr>
          <a:xfrm>
            <a:off x="6254496" y="1225296"/>
            <a:ext cx="5202936" cy="47183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64592" tIns="0" rIns="0" bIns="0" anchor="t">
            <a:noAutofit/>
          </a:bodyPr>
          <a:lstStyle/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方案B｜结构升级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需重构关键接口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建立统一模板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资源需求｜3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迁移期成本较高</a:t>
            </a:r>
          </a:p>
        </p:txBody>
      </p:sp>
    </p:spTree>
    <p:extLst>
      <p:ext uri="{BB962C8B-B14F-4D97-AF65-F5344CB8AC3E}">
        <p14:creationId xmlns:p14="http://schemas.microsoft.com/office/powerpoint/2010/main" val="14808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-accent">
            <a:extLst>
              <a:ext uri="{FF2B5EF4-FFF2-40B4-BE49-F238E27FC236}">
                <a16:creationId xmlns:a16="http://schemas.microsoft.com/office/drawing/2014/main" id="{5CAEF569-3FA5-4D9D-A23A-71472F5AC1B0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07DEFB13-40B4-4801-953E-FFA95B4BF42E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I-4｜流程与连接器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77023520-C85E-4ECA-A505-CD1F533BEFED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端到端流程通过四个原生节点形成闭环，</a:t>
            </a:r>
          </a:p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反馈连接器将复核结果重新带回输入端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24AB4828-E94A-410C-85F3-0F8180CED1AB}"/>
              </a:ext>
            </a:extLst>
          </p:cNvPr>
          <p:cNvSpPr>
            <a:spLocks/>
          </p:cNvSpPr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3D33B2CD-05B2-4DBF-8694-E31CCFCE1F84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CF278C14-0323-459E-BA73-BF3978781A71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7" name="process-node-1">
            <a:extLst>
              <a:ext uri="{FF2B5EF4-FFF2-40B4-BE49-F238E27FC236}">
                <a16:creationId xmlns:a16="http://schemas.microsoft.com/office/drawing/2014/main" id="{18756B16-72F3-4908-BB1A-CED5907D8CA8}"/>
              </a:ext>
            </a:extLst>
          </p:cNvPr>
          <p:cNvSpPr>
            <a:spLocks/>
          </p:cNvSpPr>
          <p:nvPr/>
        </p:nvSpPr>
        <p:spPr>
          <a:xfrm>
            <a:off x="731520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01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接收输入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读取固定内容与约束</a:t>
            </a:r>
          </a:p>
        </p:txBody>
      </p:sp>
      <p:sp>
        <p:nvSpPr>
          <p:cNvPr id="8" name="process-node-2">
            <a:extLst>
              <a:ext uri="{FF2B5EF4-FFF2-40B4-BE49-F238E27FC236}">
                <a16:creationId xmlns:a16="http://schemas.microsoft.com/office/drawing/2014/main" id="{75295F00-A76B-48B4-925C-9F5C0CED9053}"/>
              </a:ext>
            </a:extLst>
          </p:cNvPr>
          <p:cNvSpPr>
            <a:spLocks/>
          </p:cNvSpPr>
          <p:nvPr/>
        </p:nvSpPr>
        <p:spPr>
          <a:xfrm>
            <a:off x="3548786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02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选择版式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匹配结构合同与容量</a:t>
            </a:r>
          </a:p>
        </p:txBody>
      </p:sp>
      <p:sp>
        <p:nvSpPr>
          <p:cNvPr id="9" name="process-node-3">
            <a:extLst>
              <a:ext uri="{FF2B5EF4-FFF2-40B4-BE49-F238E27FC236}">
                <a16:creationId xmlns:a16="http://schemas.microsoft.com/office/drawing/2014/main" id="{9DD624DB-2EFF-499A-B31D-554B38F7D0E0}"/>
              </a:ext>
            </a:extLst>
          </p:cNvPr>
          <p:cNvSpPr>
            <a:spLocks/>
          </p:cNvSpPr>
          <p:nvPr/>
        </p:nvSpPr>
        <p:spPr>
          <a:xfrm>
            <a:off x="6366053" y="1965960"/>
            <a:ext cx="2276856" cy="2148840"/>
          </a:xfrm>
          <a:prstGeom prst="rect">
            <a:avLst/>
          </a:prstGeom>
          <a:solidFill>
            <a:srgbClr val="FFF7F3"/>
          </a:solidFill>
          <a:ln w="9525">
            <a:solidFill>
              <a:srgbClr val="FFDBCD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03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生成页面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写入原生文本
图表与表格</a:t>
            </a:r>
          </a:p>
        </p:txBody>
      </p:sp>
      <p:sp>
        <p:nvSpPr>
          <p:cNvPr id="10" name="process-node-4">
            <a:extLst>
              <a:ext uri="{FF2B5EF4-FFF2-40B4-BE49-F238E27FC236}">
                <a16:creationId xmlns:a16="http://schemas.microsoft.com/office/drawing/2014/main" id="{A7CEA127-6D07-4F3B-A511-CCAA9D796339}"/>
              </a:ext>
            </a:extLst>
          </p:cNvPr>
          <p:cNvSpPr>
            <a:spLocks/>
          </p:cNvSpPr>
          <p:nvPr/>
        </p:nvSpPr>
        <p:spPr>
          <a:xfrm>
            <a:off x="9183319" y="1965960"/>
            <a:ext cx="2276856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6EB"/>
            </a:solidFill>
            <a:prstDash val="solid"/>
          </a:ln>
        </p:spPr>
        <p:txBody>
          <a:bodyPr wrap="square" lIns="137160" tIns="164592" rIns="137160" bIns="164592" anchor="ctr">
            <a:noAutofit/>
          </a:bodyPr>
          <a:lstStyle/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04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校验交付</a:t>
            </a:r>
          </a:p>
          <a:p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运行结构、视觉
与交互检查</a:t>
            </a:r>
          </a:p>
        </p:txBody>
      </p:sp>
      <p:cxnSp>
        <p:nvCxnSpPr>
          <p:cNvPr id="26" name="connector-1"/>
          <p:cNvCxnSpPr>
            <a:stCxn id="7" idx="3"/>
            <a:endCxn id="8" idx="1"/>
          </p:cNvCxnSpPr>
          <p:nvPr/>
        </p:nvCxnSpPr>
        <p:spPr>
          <a:xfrm>
            <a:off x="3008376" y="3040380"/>
            <a:ext cx="540410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7" name="connector-2"/>
          <p:cNvCxnSpPr>
            <a:stCxn id="8" idx="3"/>
            <a:endCxn id="9" idx="1"/>
          </p:cNvCxnSpPr>
          <p:nvPr/>
        </p:nvCxnSpPr>
        <p:spPr>
          <a:xfrm>
            <a:off x="5825642" y="3040380"/>
            <a:ext cx="540411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8" name="connector-3"/>
          <p:cNvCxnSpPr>
            <a:stCxn id="9" idx="3"/>
            <a:endCxn id="10" idx="1"/>
          </p:cNvCxnSpPr>
          <p:nvPr/>
        </p:nvCxnSpPr>
        <p:spPr>
          <a:xfrm>
            <a:off x="8642909" y="3040380"/>
            <a:ext cx="540410" cy="0"/>
          </a:xfrm>
          <a:prstGeom prst="straightConnector1">
            <a:avLst/>
          </a:prstGeom>
          <a:ln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9" name="feedback-connector"/>
          <p:cNvCxnSpPr>
            <a:stCxn id="10" idx="2"/>
            <a:endCxn id="7" idx="2"/>
          </p:cNvCxnSpPr>
          <p:nvPr/>
        </p:nvCxnSpPr>
        <p:spPr>
          <a:xfrm flipH="1">
            <a:off x="1869948" y="4114800"/>
            <a:ext cx="8451799" cy="228600"/>
          </a:xfrm>
          <a:prstGeom prst="bentConnector5">
            <a:avLst/>
          </a:prstGeom>
          <a:ln w="19050">
            <a:solidFill>
              <a:srgbClr val="646A73"/>
            </a:solidFill>
            <a:prstDash val="dash"/>
            <a:tailEnd type="arrow" w="med" len="med"/>
          </a:ln>
        </p:spPr>
      </p:cxnSp>
      <p:sp>
        <p:nvSpPr>
          <p:cNvPr id="15" name="feedback-label">
            <a:extLst>
              <a:ext uri="{FF2B5EF4-FFF2-40B4-BE49-F238E27FC236}">
                <a16:creationId xmlns:a16="http://schemas.microsoft.com/office/drawing/2014/main" id="{8637511E-AB1A-473B-B143-833DC9937871}"/>
              </a:ext>
            </a:extLst>
          </p:cNvPr>
          <p:cNvSpPr>
            <a:spLocks/>
          </p:cNvSpPr>
          <p:nvPr/>
        </p:nvSpPr>
        <p:spPr>
          <a:xfrm>
            <a:off x="5166360" y="5074920"/>
            <a:ext cx="1856232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复核反馈</a:t>
            </a:r>
          </a:p>
        </p:txBody>
      </p:sp>
    </p:spTree>
    <p:extLst>
      <p:ext uri="{BB962C8B-B14F-4D97-AF65-F5344CB8AC3E}">
        <p14:creationId xmlns:p14="http://schemas.microsoft.com/office/powerpoint/2010/main" val="91815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-accent">
            <a:extLst>
              <a:ext uri="{FF2B5EF4-FFF2-40B4-BE49-F238E27FC236}">
                <a16:creationId xmlns:a16="http://schemas.microsoft.com/office/drawing/2014/main" id="{476D2E3A-96A1-49F7-923B-0CEB17A07945}"/>
              </a:ext>
            </a:extLst>
          </p:cNvPr>
          <p:cNvSpPr>
            <a:spLocks/>
          </p:cNvSpPr>
          <p:nvPr/>
        </p:nvSpPr>
        <p:spPr>
          <a:xfrm>
            <a:off x="731520" y="137160"/>
            <a:ext cx="27432" cy="182880"/>
          </a:xfrm>
          <a:prstGeom prst="rect">
            <a:avLst/>
          </a:prstGeom>
          <a:solidFill>
            <a:srgbClr val="FF4906"/>
          </a:solidFill>
          <a:ln w="0">
            <a:noFill/>
            <a:prstDash val="solid"/>
          </a:ln>
        </p:spPr>
      </p:sp>
      <p:sp>
        <p:nvSpPr>
          <p:cNvPr id="2" name="header-text">
            <a:extLst>
              <a:ext uri="{FF2B5EF4-FFF2-40B4-BE49-F238E27FC236}">
                <a16:creationId xmlns:a16="http://schemas.microsoft.com/office/drawing/2014/main" id="{EA175517-6535-47CD-89C7-B3B05BAAB162}"/>
              </a:ext>
            </a:extLst>
          </p:cNvPr>
          <p:cNvSpPr>
            <a:spLocks/>
          </p:cNvSpPr>
          <p:nvPr/>
        </p:nvSpPr>
        <p:spPr>
          <a:xfrm>
            <a:off x="841248" y="137160"/>
            <a:ext cx="10616184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附录 A-1｜高密度页</a:t>
            </a:r>
          </a:p>
        </p:txBody>
      </p:sp>
      <p:sp>
        <p:nvSpPr>
          <p:cNvPr id="3" name="action-title">
            <a:extLst>
              <a:ext uri="{FF2B5EF4-FFF2-40B4-BE49-F238E27FC236}">
                <a16:creationId xmlns:a16="http://schemas.microsoft.com/office/drawing/2014/main" id="{4BCF17C6-AD69-487B-907E-EEE3950495AA}"/>
              </a:ext>
            </a:extLst>
          </p:cNvPr>
          <p:cNvSpPr>
            <a:spLocks/>
          </p:cNvSpPr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高密度附录可以使用10pt正文，但不能牺牲可读性和编辑性</a:t>
            </a:r>
          </a:p>
        </p:txBody>
      </p:sp>
      <p:sp>
        <p:nvSpPr>
          <p:cNvPr id="4" name="title-divider">
            <a:extLst>
              <a:ext uri="{FF2B5EF4-FFF2-40B4-BE49-F238E27FC236}">
                <a16:creationId xmlns:a16="http://schemas.microsoft.com/office/drawing/2014/main" id="{2EDA64F7-5582-40C5-8199-58C25CCC6879}"/>
              </a:ext>
            </a:extLst>
          </p:cNvPr>
          <p:cNvSpPr>
            <a:spLocks/>
          </p:cNvSpPr>
          <p:nvPr/>
        </p:nvSpPr>
        <p:spPr>
          <a:xfrm>
            <a:off x="731520" y="1005840"/>
            <a:ext cx="10728655" cy="9144"/>
          </a:xfrm>
          <a:prstGeom prst="rect">
            <a:avLst/>
          </a:prstGeom>
          <a:solidFill>
            <a:srgbClr val="E5E6EB"/>
          </a:solidFill>
          <a:ln w="0">
            <a:noFill/>
            <a:prstDash val="solid"/>
          </a:ln>
        </p:spPr>
      </p:sp>
      <p:sp>
        <p:nvSpPr>
          <p:cNvPr id="5" name="source-footnote">
            <a:extLst>
              <a:ext uri="{FF2B5EF4-FFF2-40B4-BE49-F238E27FC236}">
                <a16:creationId xmlns:a16="http://schemas.microsoft.com/office/drawing/2014/main" id="{7F1E1C1B-DB16-48E7-BE93-BBE392EEDEC4}"/>
              </a:ext>
            </a:extLst>
          </p:cNvPr>
          <p:cNvSpPr>
            <a:spLocks/>
          </p:cNvSpPr>
          <p:nvPr/>
        </p:nvSpPr>
        <p:spPr>
          <a:xfrm>
            <a:off x="731520" y="6446520"/>
            <a:ext cx="98755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86E0D531-A9A4-4845-94BA-A998F95044B7}"/>
              </a:ext>
            </a:extLst>
          </p:cNvPr>
          <p:cNvSpPr>
            <a:spLocks/>
          </p:cNvSpPr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7" name="appendix-note">
            <a:extLst>
              <a:ext uri="{FF2B5EF4-FFF2-40B4-BE49-F238E27FC236}">
                <a16:creationId xmlns:a16="http://schemas.microsoft.com/office/drawing/2014/main" id="{75A2E108-B707-41F8-8C71-A80A2FCEB84A}"/>
              </a:ext>
            </a:extLst>
          </p:cNvPr>
          <p:cNvSpPr>
            <a:spLocks/>
          </p:cNvSpPr>
          <p:nvPr/>
        </p:nvSpPr>
        <p:spPr>
          <a:xfrm>
            <a:off x="731520" y="1207008"/>
            <a:ext cx="10728655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基准对象清单｜仅用于对象类型与交互动作检查</a:t>
            </a:r>
          </a:p>
        </p:txBody>
      </p:sp>
      <p:graphicFrame>
        <p:nvGraphicFramePr>
          <p:cNvPr id="16" name="appendix-table"/>
          <p:cNvGraphicFramePr/>
          <p:nvPr/>
        </p:nvGraphicFramePr>
        <p:xfrm>
          <a:off x="731520" y="1554480"/>
          <a:ext cx="10728655" cy="46634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原生类型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字号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颜色/样式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交互动作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通过标准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cover-title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无填充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改字与撤销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文本直接编辑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EB2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chart-main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原生图表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灰＋橙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改数据与撤销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图表更新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table-main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原生表格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白底＋细规则线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改单元格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格式保持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column-left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混合加粗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改色及取消加粗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局部可控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connector-1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灰色实线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移动节点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连线吸附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feedback-connector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灰色虚线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改端点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箭头保持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page-number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页码文本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调整页序后复核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位置与格式稳定</a:t>
                      </a:r>
                    </a:p>
                  </a:txBody>
                  <a:tcPr marT="73152" marB="7315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E5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9469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Macintosh PowerPoint</Application>
  <DocSecurity>0</DocSecurity>
  <PresentationFormat>宽屏</PresentationFormat>
  <Paragraphs>148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zhe lin</cp:lastModifiedBy>
  <cp:revision>1</cp:revision>
  <dcterms:created xsi:type="dcterms:W3CDTF">2026-07-31T05:15:05Z</dcterms:created>
  <dcterms:modified xsi:type="dcterms:W3CDTF">2026-07-31T05:18:47Z</dcterms:modified>
</cp:coreProperties>
</file>